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1"/>
  </p:sldMasterIdLst>
  <p:sldIdLst>
    <p:sldId id="256" r:id="rId2"/>
    <p:sldId id="257" r:id="rId3"/>
    <p:sldId id="266" r:id="rId4"/>
    <p:sldId id="258" r:id="rId5"/>
    <p:sldId id="265" r:id="rId6"/>
    <p:sldId id="263" r:id="rId7"/>
    <p:sldId id="268" r:id="rId8"/>
    <p:sldId id="269" r:id="rId9"/>
    <p:sldId id="271" r:id="rId10"/>
    <p:sldId id="272" r:id="rId11"/>
    <p:sldId id="273" r:id="rId12"/>
    <p:sldId id="277" r:id="rId13"/>
    <p:sldId id="278" r:id="rId14"/>
    <p:sldId id="274" r:id="rId15"/>
    <p:sldId id="275" r:id="rId16"/>
    <p:sldId id="276" r:id="rId17"/>
    <p:sldId id="262" r:id="rId18"/>
    <p:sldId id="261" r:id="rId19"/>
    <p:sldId id="26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3735846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1163779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4071021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DC76F1-CFC6-41B0-8090-5C4483F972FC}" type="datetimeFigureOut">
              <a:rPr lang="en-IN" smtClean="0"/>
              <a:t>28-04-2024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514810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DC76F1-CFC6-41B0-8090-5C4483F972FC}" type="datetimeFigureOut">
              <a:rPr lang="en-IN" smtClean="0"/>
              <a:t>28-04-2024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3380776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DC76F1-CFC6-41B0-8090-5C4483F972FC}" type="datetimeFigureOut">
              <a:rPr lang="en-IN" smtClean="0"/>
              <a:t>28-04-2024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2637813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DC76F1-CFC6-41B0-8090-5C4483F972FC}" type="datetimeFigureOut">
              <a:rPr lang="en-IN" smtClean="0"/>
              <a:t>28-04-2024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340533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DC76F1-CFC6-41B0-8090-5C4483F972FC}" type="datetimeFigureOut">
              <a:rPr lang="en-IN" smtClean="0"/>
              <a:t>28-04-2024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1751421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2B8277-BE18-4C5C-887C-5E908DA9220D}" type="slidenum">
              <a:rPr lang="en-IN" smtClean="0"/>
              <a:t>‹#›</a:t>
            </a:fld>
            <a:endParaRPr lang="en-IN"/>
          </a:p>
        </p:txBody>
      </p:sp>
      <p:sp>
        <p:nvSpPr>
          <p:cNvPr id="5" name="Date Placeholder 4"/>
          <p:cNvSpPr>
            <a:spLocks noGrp="1"/>
          </p:cNvSpPr>
          <p:nvPr>
            <p:ph type="dt" sz="half" idx="10"/>
          </p:nvPr>
        </p:nvSpPr>
        <p:spPr/>
        <p:txBody>
          <a:bodyPr/>
          <a:lstStyle/>
          <a:p>
            <a:fld id="{95DC76F1-CFC6-41B0-8090-5C4483F972FC}" type="datetimeFigureOut">
              <a:rPr lang="en-IN" smtClean="0"/>
              <a:t>28-04-2024</a:t>
            </a:fld>
            <a:endParaRPr lang="en-IN"/>
          </a:p>
        </p:txBody>
      </p:sp>
    </p:spTree>
    <p:extLst>
      <p:ext uri="{BB962C8B-B14F-4D97-AF65-F5344CB8AC3E}">
        <p14:creationId xmlns:p14="http://schemas.microsoft.com/office/powerpoint/2010/main" val="2300062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3097606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9531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19357646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890523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767367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1939897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DC76F1-CFC6-41B0-8090-5C4483F972FC}" type="datetimeFigureOut">
              <a:rPr lang="en-IN" smtClean="0"/>
              <a:t>28-04-2024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B8277-BE18-4C5C-887C-5E908DA9220D}" type="slidenum">
              <a:rPr lang="en-IN" smtClean="0"/>
              <a:t>‹#›</a:t>
            </a:fld>
            <a:endParaRPr lang="en-IN"/>
          </a:p>
        </p:txBody>
      </p:sp>
    </p:spTree>
    <p:extLst>
      <p:ext uri="{BB962C8B-B14F-4D97-AF65-F5344CB8AC3E}">
        <p14:creationId xmlns:p14="http://schemas.microsoft.com/office/powerpoint/2010/main" val="768794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DC76F1-CFC6-41B0-8090-5C4483F972FC}" type="datetimeFigureOut">
              <a:rPr lang="en-IN" smtClean="0"/>
              <a:t>28-04-2024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D2B8277-BE18-4C5C-887C-5E908DA9220D}" type="slidenum">
              <a:rPr lang="en-IN" smtClean="0"/>
              <a:t>‹#›</a:t>
            </a:fld>
            <a:endParaRPr lang="en-IN"/>
          </a:p>
        </p:txBody>
      </p:sp>
    </p:spTree>
    <p:extLst>
      <p:ext uri="{BB962C8B-B14F-4D97-AF65-F5344CB8AC3E}">
        <p14:creationId xmlns:p14="http://schemas.microsoft.com/office/powerpoint/2010/main" val="4168057960"/>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 id="2147483865" r:id="rId15"/>
    <p:sldLayoutId id="214748386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8EFDD-C39F-84D8-BF51-961DB8CDD8C5}"/>
              </a:ext>
            </a:extLst>
          </p:cNvPr>
          <p:cNvSpPr>
            <a:spLocks noGrp="1"/>
          </p:cNvSpPr>
          <p:nvPr>
            <p:ph type="ctrTitle"/>
          </p:nvPr>
        </p:nvSpPr>
        <p:spPr>
          <a:xfrm>
            <a:off x="911290" y="690984"/>
            <a:ext cx="5632579" cy="2738016"/>
          </a:xfrm>
        </p:spPr>
        <p:txBody>
          <a:bodyPr>
            <a:normAutofit fontScale="90000"/>
          </a:bodyPr>
          <a:lstStyle/>
          <a:p>
            <a:pPr algn="ctr"/>
            <a:r>
              <a:rPr lang="en-IN" sz="4400" b="1" i="0" u="none" strike="noStrike" baseline="0" dirty="0">
                <a:solidFill>
                  <a:srgbClr val="181717"/>
                </a:solidFill>
                <a:latin typeface="Algerian" panose="04020705040A02060702" pitchFamily="82" charset="0"/>
              </a:rPr>
              <a:t>Medical - X-Ray -Bone</a:t>
            </a:r>
            <a:br>
              <a:rPr lang="en-IN" sz="4400" b="1" i="0" u="none" strike="noStrike" baseline="0" dirty="0">
                <a:solidFill>
                  <a:srgbClr val="181717"/>
                </a:solidFill>
                <a:latin typeface="Algerian" panose="04020705040A02060702" pitchFamily="82" charset="0"/>
              </a:rPr>
            </a:br>
            <a:r>
              <a:rPr lang="en-IN" sz="4400" b="1" i="0" u="none" strike="noStrike" baseline="0" dirty="0" err="1">
                <a:solidFill>
                  <a:srgbClr val="181717"/>
                </a:solidFill>
                <a:latin typeface="Algerian" panose="04020705040A02060702" pitchFamily="82" charset="0"/>
              </a:rPr>
              <a:t>FRactuRe</a:t>
            </a:r>
            <a:r>
              <a:rPr lang="en-IN" sz="4400" b="1" i="0" u="none" strike="noStrike" baseline="0" dirty="0">
                <a:solidFill>
                  <a:srgbClr val="181717"/>
                </a:solidFill>
                <a:latin typeface="Algerian" panose="04020705040A02060702" pitchFamily="82" charset="0"/>
              </a:rPr>
              <a:t> detection</a:t>
            </a:r>
            <a:br>
              <a:rPr lang="en-IN" sz="1800" b="1" i="0" u="none" strike="noStrike" baseline="0" dirty="0">
                <a:solidFill>
                  <a:srgbClr val="181717"/>
                </a:solidFill>
                <a:latin typeface="CIDFont+F1"/>
              </a:rPr>
            </a:br>
            <a:r>
              <a:rPr lang="en-IN" sz="3200" b="1" i="0" u="none" strike="noStrike" baseline="0" dirty="0">
                <a:solidFill>
                  <a:srgbClr val="2E75B7"/>
                </a:solidFill>
                <a:latin typeface="CIDFont+F2"/>
              </a:rPr>
              <a:t>(Binary Classification Problem</a:t>
            </a:r>
            <a:r>
              <a:rPr lang="en-IN" sz="3200" b="0" i="0" u="none" strike="noStrike" baseline="0" dirty="0">
                <a:solidFill>
                  <a:srgbClr val="2E75B7"/>
                </a:solidFill>
                <a:latin typeface="CIDFont+F2"/>
              </a:rPr>
              <a:t>)</a:t>
            </a:r>
            <a:endParaRPr lang="en-IN" sz="3200" dirty="0"/>
          </a:p>
        </p:txBody>
      </p:sp>
      <p:pic>
        <p:nvPicPr>
          <p:cNvPr id="6" name="Picture 5">
            <a:extLst>
              <a:ext uri="{FF2B5EF4-FFF2-40B4-BE49-F238E27FC236}">
                <a16:creationId xmlns:a16="http://schemas.microsoft.com/office/drawing/2014/main" id="{A9605FD2-C20D-C4E5-0CB8-0C113AB6940D}"/>
              </a:ext>
            </a:extLst>
          </p:cNvPr>
          <p:cNvPicPr>
            <a:picLocks noChangeAspect="1"/>
          </p:cNvPicPr>
          <p:nvPr/>
        </p:nvPicPr>
        <p:blipFill>
          <a:blip r:embed="rId2"/>
          <a:stretch>
            <a:fillRect/>
          </a:stretch>
        </p:blipFill>
        <p:spPr>
          <a:xfrm>
            <a:off x="7184635" y="495300"/>
            <a:ext cx="3642049" cy="3566505"/>
          </a:xfrm>
          <a:prstGeom prst="rect">
            <a:avLst/>
          </a:prstGeom>
        </p:spPr>
      </p:pic>
      <p:sp>
        <p:nvSpPr>
          <p:cNvPr id="3" name="TextBox 2">
            <a:extLst>
              <a:ext uri="{FF2B5EF4-FFF2-40B4-BE49-F238E27FC236}">
                <a16:creationId xmlns:a16="http://schemas.microsoft.com/office/drawing/2014/main" id="{87FB1D63-638C-58BA-957D-9BB2E1AF9F0B}"/>
              </a:ext>
            </a:extLst>
          </p:cNvPr>
          <p:cNvSpPr txBox="1"/>
          <p:nvPr/>
        </p:nvSpPr>
        <p:spPr>
          <a:xfrm>
            <a:off x="1079500" y="4203700"/>
            <a:ext cx="4635500" cy="1600438"/>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TEAM ASSOCIATES :</a:t>
            </a:r>
          </a:p>
          <a:p>
            <a:pPr algn="ctr"/>
            <a:endParaRPr lang="en-US" b="1" dirty="0">
              <a:latin typeface="Times New Roman" panose="02020603050405020304" pitchFamily="18" charset="0"/>
              <a:cs typeface="Times New Roman" panose="02020603050405020304" pitchFamily="18" charset="0"/>
            </a:endParaRPr>
          </a:p>
          <a:p>
            <a:r>
              <a:rPr lang="en-US" dirty="0"/>
              <a:t> </a:t>
            </a:r>
            <a:r>
              <a:rPr lang="en-US" sz="1400" b="1" dirty="0">
                <a:latin typeface="Times New Roman" panose="02020603050405020304" pitchFamily="18" charset="0"/>
                <a:cs typeface="Times New Roman" panose="02020603050405020304" pitchFamily="18" charset="0"/>
              </a:rPr>
              <a:t>K.PRASANTHI                                   20L61A0534</a:t>
            </a:r>
          </a:p>
          <a:p>
            <a:r>
              <a:rPr lang="en-US" sz="1400" b="1" dirty="0">
                <a:latin typeface="Times New Roman" panose="02020603050405020304" pitchFamily="18" charset="0"/>
                <a:cs typeface="Times New Roman" panose="02020603050405020304" pitchFamily="18" charset="0"/>
              </a:rPr>
              <a:t> B. SHYAMALA                                    20L61A0511</a:t>
            </a:r>
          </a:p>
          <a:p>
            <a:r>
              <a:rPr lang="en-US" sz="1400" b="1" dirty="0">
                <a:latin typeface="Times New Roman" panose="02020603050405020304" pitchFamily="18" charset="0"/>
                <a:cs typeface="Times New Roman" panose="02020603050405020304" pitchFamily="18" charset="0"/>
              </a:rPr>
              <a:t> G. PUJITHA                                         20L61A0525</a:t>
            </a:r>
          </a:p>
          <a:p>
            <a:r>
              <a:rPr lang="en-US" sz="1400" b="1" dirty="0">
                <a:latin typeface="Times New Roman" panose="02020603050405020304" pitchFamily="18" charset="0"/>
                <a:cs typeface="Times New Roman" panose="02020603050405020304" pitchFamily="18" charset="0"/>
              </a:rPr>
              <a:t> A. HARSHA VARDHAN                     20L61A0575</a:t>
            </a:r>
            <a:endParaRPr lang="en-IN" sz="1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41ED72F-535F-F5C8-314B-AC8FB9185F76}"/>
              </a:ext>
            </a:extLst>
          </p:cNvPr>
          <p:cNvPicPr/>
          <p:nvPr/>
        </p:nvPicPr>
        <p:blipFill>
          <a:blip r:embed="rId3"/>
          <a:stretch>
            <a:fillRect/>
          </a:stretch>
        </p:blipFill>
        <p:spPr>
          <a:xfrm>
            <a:off x="11229658" y="21165"/>
            <a:ext cx="942642" cy="948269"/>
          </a:xfrm>
          <a:prstGeom prst="rect">
            <a:avLst/>
          </a:prstGeom>
        </p:spPr>
      </p:pic>
      <p:sp>
        <p:nvSpPr>
          <p:cNvPr id="7" name="TextBox 6">
            <a:extLst>
              <a:ext uri="{FF2B5EF4-FFF2-40B4-BE49-F238E27FC236}">
                <a16:creationId xmlns:a16="http://schemas.microsoft.com/office/drawing/2014/main" id="{95794A6F-3AD1-95CF-DE73-9FF59DB29E62}"/>
              </a:ext>
            </a:extLst>
          </p:cNvPr>
          <p:cNvSpPr txBox="1"/>
          <p:nvPr/>
        </p:nvSpPr>
        <p:spPr>
          <a:xfrm>
            <a:off x="9229725" y="5438775"/>
            <a:ext cx="2838450" cy="892552"/>
          </a:xfrm>
          <a:prstGeom prst="rect">
            <a:avLst/>
          </a:prstGeom>
          <a:noFill/>
        </p:spPr>
        <p:txBody>
          <a:bodyPr wrap="square" rtlCol="0">
            <a:spAutoFit/>
          </a:bodyPr>
          <a:lstStyle/>
          <a:p>
            <a:r>
              <a:rPr lang="en-US" sz="1600" b="1" dirty="0"/>
              <a:t>UNDER THE GUIDENCE OF </a:t>
            </a:r>
          </a:p>
          <a:p>
            <a:r>
              <a:rPr lang="en-US" b="1" dirty="0"/>
              <a:t>Mr. D. Promod Kumar</a:t>
            </a:r>
          </a:p>
          <a:p>
            <a:r>
              <a:rPr lang="en-US" b="1" dirty="0"/>
              <a:t>CSE DEPT</a:t>
            </a:r>
            <a:endParaRPr lang="en-IN" b="1" dirty="0"/>
          </a:p>
        </p:txBody>
      </p:sp>
    </p:spTree>
    <p:extLst>
      <p:ext uri="{BB962C8B-B14F-4D97-AF65-F5344CB8AC3E}">
        <p14:creationId xmlns:p14="http://schemas.microsoft.com/office/powerpoint/2010/main" val="3397745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D4BB2-BBC0-5BA5-BF5E-CA5905C0E778}"/>
              </a:ext>
            </a:extLst>
          </p:cNvPr>
          <p:cNvSpPr>
            <a:spLocks noGrp="1"/>
          </p:cNvSpPr>
          <p:nvPr>
            <p:ph type="title"/>
          </p:nvPr>
        </p:nvSpPr>
        <p:spPr/>
        <p:txBody>
          <a:bodyPr>
            <a:normAutofit/>
          </a:bodyPr>
          <a:lstStyle/>
          <a:p>
            <a:pPr algn="ctr"/>
            <a:r>
              <a:rPr lang="en-IN" sz="4800" b="0" i="0" u="none" strike="noStrike" baseline="0" dirty="0">
                <a:solidFill>
                  <a:schemeClr val="tx1"/>
                </a:solidFill>
                <a:latin typeface="Arial Black" panose="020B0A04020102020204" pitchFamily="34" charset="0"/>
              </a:rPr>
              <a:t>ABSTRACT</a:t>
            </a:r>
            <a:endParaRPr lang="en-IN" sz="4800" dirty="0">
              <a:solidFill>
                <a:schemeClr val="tx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2D786611-3554-5CEB-A515-E7CD0643A9C7}"/>
              </a:ext>
            </a:extLst>
          </p:cNvPr>
          <p:cNvSpPr>
            <a:spLocks noGrp="1"/>
          </p:cNvSpPr>
          <p:nvPr>
            <p:ph idx="1"/>
          </p:nvPr>
        </p:nvSpPr>
        <p:spPr>
          <a:xfrm>
            <a:off x="838200" y="1897062"/>
            <a:ext cx="11353800" cy="4351338"/>
          </a:xfrm>
        </p:spPr>
        <p:txBody>
          <a:bodyPr>
            <a:normAutofit fontScale="25000" lnSpcReduction="20000"/>
          </a:bodyPr>
          <a:lstStyle/>
          <a:p>
            <a:pPr marL="0" indent="0" algn="l">
              <a:buNone/>
            </a:pPr>
            <a:r>
              <a:rPr lang="en-IN" sz="8000" b="0" i="0" u="none" strike="noStrike" baseline="0" dirty="0">
                <a:latin typeface="Arial Black" panose="020B0A04020102020204" pitchFamily="34" charset="0"/>
              </a:rPr>
              <a:t>Requirement:</a:t>
            </a:r>
          </a:p>
          <a:p>
            <a:pPr marL="0" indent="0" algn="l">
              <a:buNone/>
            </a:pPr>
            <a:endParaRPr lang="en-IN" sz="2400" b="0" i="0" u="none" strike="noStrike" baseline="0" dirty="0">
              <a:latin typeface="Arial Black" panose="020B0A04020102020204" pitchFamily="34" charset="0"/>
            </a:endParaRPr>
          </a:p>
          <a:p>
            <a:pPr marL="0" indent="0" algn="l">
              <a:buNone/>
            </a:pPr>
            <a:r>
              <a:rPr lang="en-US" sz="4000" b="0" i="0" u="none" strike="noStrike" baseline="0" dirty="0">
                <a:latin typeface="CIDFont+F3"/>
              </a:rPr>
              <a:t>           </a:t>
            </a:r>
            <a:r>
              <a:rPr lang="en-US" sz="6400" b="0" i="0" u="none" strike="noStrike" baseline="0" dirty="0">
                <a:latin typeface="Times New Roman" panose="02020603050405020304" pitchFamily="18" charset="0"/>
                <a:cs typeface="Times New Roman" panose="02020603050405020304" pitchFamily="18" charset="0"/>
              </a:rPr>
              <a:t>Classify between Fractured Bone and not Fractured Bone</a:t>
            </a:r>
          </a:p>
          <a:p>
            <a:pPr marL="0" indent="0" algn="l">
              <a:buNone/>
            </a:pPr>
            <a:endParaRPr lang="en-IN" sz="2900" b="0" i="0" u="none" strike="noStrike" baseline="0" dirty="0">
              <a:latin typeface="Arial Black" panose="020B0A04020102020204" pitchFamily="34" charset="0"/>
            </a:endParaRPr>
          </a:p>
          <a:p>
            <a:pPr marL="0" indent="0" algn="l">
              <a:buNone/>
            </a:pPr>
            <a:r>
              <a:rPr lang="en-IN" sz="8000" b="0" i="0" u="none" strike="noStrike" baseline="0" dirty="0">
                <a:latin typeface="Arial Black" panose="020B0A04020102020204" pitchFamily="34" charset="0"/>
              </a:rPr>
              <a:t>Significance:</a:t>
            </a:r>
          </a:p>
          <a:p>
            <a:pPr marL="0" indent="0" algn="l">
              <a:buNone/>
            </a:pPr>
            <a:endParaRPr lang="en-US" sz="2000" b="0" i="0" u="none" strike="noStrike" baseline="0" dirty="0">
              <a:latin typeface="Arial" panose="020B0604020202020204" pitchFamily="34" charset="0"/>
              <a:cs typeface="Arial" panose="020B0604020202020204" pitchFamily="34" charset="0"/>
            </a:endParaRPr>
          </a:p>
          <a:p>
            <a:pPr algn="l">
              <a:buFont typeface="Wingdings" panose="05000000000000000000" pitchFamily="2" charset="2"/>
              <a:buChar char="Ø"/>
            </a:pPr>
            <a:r>
              <a:rPr lang="en-US" sz="6400" b="0" i="0" u="none" strike="noStrike" baseline="0" dirty="0">
                <a:latin typeface="Arial" panose="020B0604020202020204" pitchFamily="34" charset="0"/>
                <a:cs typeface="Arial" panose="020B0604020202020204" pitchFamily="34" charset="0"/>
              </a:rPr>
              <a:t>    </a:t>
            </a:r>
            <a:r>
              <a:rPr lang="en-US" sz="6400" b="0" i="0" u="none" strike="noStrike" baseline="0" dirty="0">
                <a:latin typeface="Times New Roman" panose="02020603050405020304" pitchFamily="18" charset="0"/>
                <a:cs typeface="Times New Roman" panose="02020603050405020304" pitchFamily="18" charset="0"/>
              </a:rPr>
              <a:t>Accurate and timely detection of bone fractures is critical for effective medical treatment</a:t>
            </a:r>
          </a:p>
          <a:p>
            <a:pPr marL="0" indent="0" algn="l">
              <a:buNone/>
            </a:pPr>
            <a:r>
              <a:rPr lang="en-IN" sz="6400" b="0" i="0" u="none" strike="noStrike" baseline="0" dirty="0">
                <a:latin typeface="Times New Roman" panose="02020603050405020304" pitchFamily="18" charset="0"/>
                <a:cs typeface="Times New Roman" panose="02020603050405020304" pitchFamily="18" charset="0"/>
              </a:rPr>
              <a:t>        and patient care.</a:t>
            </a:r>
          </a:p>
          <a:p>
            <a:pPr algn="l">
              <a:buFont typeface="Wingdings" panose="05000000000000000000" pitchFamily="2" charset="2"/>
              <a:buChar char="Ø"/>
            </a:pPr>
            <a:r>
              <a:rPr lang="en-US" sz="6400" b="0" i="0" u="none" strike="noStrike" baseline="0" dirty="0">
                <a:latin typeface="Times New Roman" panose="02020603050405020304" pitchFamily="18" charset="0"/>
                <a:cs typeface="Times New Roman" panose="02020603050405020304" pitchFamily="18" charset="0"/>
              </a:rPr>
              <a:t>    Conventional methods of fracture detection often rely on manual interpretation of medical</a:t>
            </a:r>
          </a:p>
          <a:p>
            <a:pPr marL="0" indent="0" algn="l">
              <a:buNone/>
            </a:pPr>
            <a:r>
              <a:rPr lang="en-US" sz="6400" b="0" i="0" u="none" strike="noStrike" baseline="0" dirty="0">
                <a:latin typeface="Times New Roman" panose="02020603050405020304" pitchFamily="18" charset="0"/>
                <a:cs typeface="Times New Roman" panose="02020603050405020304" pitchFamily="18" charset="0"/>
              </a:rPr>
              <a:t>        images, which can be time-consuming and prone to human error.</a:t>
            </a:r>
          </a:p>
          <a:p>
            <a:pPr algn="l">
              <a:buFont typeface="Wingdings" panose="05000000000000000000" pitchFamily="2" charset="2"/>
              <a:buChar char="Ø"/>
            </a:pPr>
            <a:r>
              <a:rPr lang="en-US" sz="6400" b="0" i="0" u="none" strike="noStrike" baseline="0" dirty="0">
                <a:latin typeface="Times New Roman" panose="02020603050405020304" pitchFamily="18" charset="0"/>
                <a:cs typeface="Times New Roman" panose="02020603050405020304" pitchFamily="18" charset="0"/>
              </a:rPr>
              <a:t>    Automating bone fracture detection using CNNs holds significant promise for improving</a:t>
            </a:r>
          </a:p>
          <a:p>
            <a:pPr marL="0" indent="0" algn="l">
              <a:buNone/>
            </a:pPr>
            <a:r>
              <a:rPr lang="en-US" sz="6400" b="0" i="0" u="none" strike="noStrike" baseline="0" dirty="0">
                <a:latin typeface="Times New Roman" panose="02020603050405020304" pitchFamily="18" charset="0"/>
                <a:cs typeface="Times New Roman" panose="02020603050405020304" pitchFamily="18" charset="0"/>
              </a:rPr>
              <a:t>        health care outcomes by facilitating early diagnosis and appropriate treatment interventions.</a:t>
            </a:r>
          </a:p>
          <a:p>
            <a:pPr marL="0" indent="0" algn="l">
              <a:buNone/>
            </a:pPr>
            <a:r>
              <a:rPr lang="en-US" sz="6400" b="0" i="0" u="none" strike="noStrike" baseline="0" dirty="0">
                <a:latin typeface="Times New Roman" panose="02020603050405020304" pitchFamily="18" charset="0"/>
                <a:cs typeface="Times New Roman" panose="02020603050405020304" pitchFamily="18" charset="0"/>
              </a:rPr>
              <a:t>        By expediting the diagnostic process and reducing reliance on human expertise, this approach</a:t>
            </a:r>
          </a:p>
          <a:p>
            <a:pPr marL="0" indent="0" algn="l">
              <a:buNone/>
            </a:pPr>
            <a:r>
              <a:rPr lang="en-US" sz="6400" b="0" i="0" u="none" strike="noStrike" baseline="0" dirty="0">
                <a:latin typeface="Times New Roman" panose="02020603050405020304" pitchFamily="18" charset="0"/>
                <a:cs typeface="Times New Roman" panose="02020603050405020304" pitchFamily="18" charset="0"/>
              </a:rPr>
              <a:t>        has the potential to enhance patient care, reduce health care costs, and alleviate the burden on</a:t>
            </a:r>
          </a:p>
          <a:p>
            <a:pPr marL="0" indent="0" algn="l">
              <a:buNone/>
            </a:pPr>
            <a:r>
              <a:rPr lang="en-US" sz="6400" b="0" i="0" u="none" strike="noStrike" baseline="0" dirty="0">
                <a:latin typeface="Times New Roman" panose="02020603050405020304" pitchFamily="18" charset="0"/>
                <a:cs typeface="Times New Roman" panose="02020603050405020304" pitchFamily="18" charset="0"/>
              </a:rPr>
              <a:t>        medical professionals, ultimately contributing to better over all patient outcomes and quality of</a:t>
            </a:r>
          </a:p>
          <a:p>
            <a:pPr marL="0" indent="0" algn="l">
              <a:buNone/>
            </a:pPr>
            <a:r>
              <a:rPr lang="en-US" sz="6400" b="0" i="0" u="none" strike="noStrike" baseline="0" dirty="0">
                <a:latin typeface="Times New Roman" panose="02020603050405020304" pitchFamily="18" charset="0"/>
                <a:cs typeface="Times New Roman" panose="02020603050405020304" pitchFamily="18" charset="0"/>
              </a:rPr>
              <a:t>        life.</a:t>
            </a:r>
            <a:endParaRPr lang="en-IN" sz="6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D762E13-4402-CF24-DD42-C6FF529A73F6}"/>
              </a:ext>
            </a:extLst>
          </p:cNvPr>
          <p:cNvPicPr/>
          <p:nvPr/>
        </p:nvPicPr>
        <p:blipFill>
          <a:blip r:embed="rId2"/>
          <a:stretch>
            <a:fillRect/>
          </a:stretch>
        </p:blipFill>
        <p:spPr>
          <a:xfrm>
            <a:off x="11163300" y="1"/>
            <a:ext cx="1009650" cy="952500"/>
          </a:xfrm>
          <a:prstGeom prst="rect">
            <a:avLst/>
          </a:prstGeom>
        </p:spPr>
      </p:pic>
    </p:spTree>
    <p:extLst>
      <p:ext uri="{BB962C8B-B14F-4D97-AF65-F5344CB8AC3E}">
        <p14:creationId xmlns:p14="http://schemas.microsoft.com/office/powerpoint/2010/main" val="416472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29C919-F81D-AF41-897B-720003DC0FF2}"/>
              </a:ext>
            </a:extLst>
          </p:cNvPr>
          <p:cNvSpPr txBox="1"/>
          <p:nvPr/>
        </p:nvSpPr>
        <p:spPr>
          <a:xfrm>
            <a:off x="828675" y="1745615"/>
            <a:ext cx="5467350" cy="3816429"/>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Bones are the solid organs in the human body protecting many important organs such as brain , heart   lungs and other internal organs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human body has 206 Bones with various shapes , size and structures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There are different types of medical tools are available to detecting different types of abnormalities such as X – ray .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Computed Tomography (CT) , Magnetic Resonance Imaging (MRI) , ultrasound etc..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X – rays and CT are the most frequently used in fracture detection because it is the fastest and easiest way for the doctors to study the injuries of bones and joints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Doctors usually uses X-ray images to determine whether a fracture  exists , and the location of the fracture .</a:t>
            </a:r>
          </a:p>
          <a:p>
            <a:pPr marL="285750" indent="-285750">
              <a:buFont typeface="Arial" panose="020B0604020202020204" pitchFamily="34" charset="0"/>
              <a:buChar char="•"/>
            </a:pPr>
            <a:endParaRPr lang="en-US" dirty="0"/>
          </a:p>
        </p:txBody>
      </p:sp>
      <p:pic>
        <p:nvPicPr>
          <p:cNvPr id="10" name="Picture 9">
            <a:extLst>
              <a:ext uri="{FF2B5EF4-FFF2-40B4-BE49-F238E27FC236}">
                <a16:creationId xmlns:a16="http://schemas.microsoft.com/office/drawing/2014/main" id="{250B1449-80BC-42E5-3B8A-A18F3A17A0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6025" y="1485900"/>
            <a:ext cx="4181475" cy="4181476"/>
          </a:xfrm>
          <a:prstGeom prst="rect">
            <a:avLst/>
          </a:prstGeom>
        </p:spPr>
      </p:pic>
      <p:sp>
        <p:nvSpPr>
          <p:cNvPr id="11" name="TextBox 10">
            <a:extLst>
              <a:ext uri="{FF2B5EF4-FFF2-40B4-BE49-F238E27FC236}">
                <a16:creationId xmlns:a16="http://schemas.microsoft.com/office/drawing/2014/main" id="{40BDD80F-14E6-621A-08E9-9959C71A5058}"/>
              </a:ext>
            </a:extLst>
          </p:cNvPr>
          <p:cNvSpPr txBox="1"/>
          <p:nvPr/>
        </p:nvSpPr>
        <p:spPr>
          <a:xfrm>
            <a:off x="2247900" y="365551"/>
            <a:ext cx="7181850" cy="830997"/>
          </a:xfrm>
          <a:prstGeom prst="rect">
            <a:avLst/>
          </a:prstGeom>
          <a:noFill/>
        </p:spPr>
        <p:txBody>
          <a:bodyPr wrap="square" rtlCol="0">
            <a:spAutoFit/>
          </a:bodyPr>
          <a:lstStyle/>
          <a:p>
            <a:pPr algn="ctr"/>
            <a:r>
              <a:rPr lang="en-US" sz="4800" dirty="0">
                <a:latin typeface="Arial Black" panose="020B0A04020102020204" pitchFamily="34" charset="0"/>
              </a:rPr>
              <a:t>INTRODUCTION</a:t>
            </a:r>
          </a:p>
        </p:txBody>
      </p:sp>
      <p:pic>
        <p:nvPicPr>
          <p:cNvPr id="2" name="Picture 1">
            <a:extLst>
              <a:ext uri="{FF2B5EF4-FFF2-40B4-BE49-F238E27FC236}">
                <a16:creationId xmlns:a16="http://schemas.microsoft.com/office/drawing/2014/main" id="{F02D3A75-1C61-B12D-069B-61ED96A9C517}"/>
              </a:ext>
            </a:extLst>
          </p:cNvPr>
          <p:cNvPicPr/>
          <p:nvPr/>
        </p:nvPicPr>
        <p:blipFill>
          <a:blip r:embed="rId3"/>
          <a:stretch>
            <a:fillRect/>
          </a:stretch>
        </p:blipFill>
        <p:spPr>
          <a:xfrm>
            <a:off x="11214101" y="0"/>
            <a:ext cx="977900" cy="904875"/>
          </a:xfrm>
          <a:prstGeom prst="rect">
            <a:avLst/>
          </a:prstGeom>
        </p:spPr>
      </p:pic>
    </p:spTree>
    <p:extLst>
      <p:ext uri="{BB962C8B-B14F-4D97-AF65-F5344CB8AC3E}">
        <p14:creationId xmlns:p14="http://schemas.microsoft.com/office/powerpoint/2010/main" val="1503333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70238A-6777-F2CC-329C-268D8FEBE105}"/>
              </a:ext>
            </a:extLst>
          </p:cNvPr>
          <p:cNvSpPr>
            <a:spLocks noGrp="1"/>
          </p:cNvSpPr>
          <p:nvPr>
            <p:ph idx="1"/>
          </p:nvPr>
        </p:nvSpPr>
        <p:spPr>
          <a:xfrm>
            <a:off x="838200" y="1314449"/>
            <a:ext cx="10725150" cy="5257801"/>
          </a:xfrm>
        </p:spPr>
        <p:txBody>
          <a:bodyPr>
            <a:normAutofit/>
          </a:bodyPr>
          <a:lstStyle/>
          <a:p>
            <a:pPr marL="0" indent="0" algn="l">
              <a:buNone/>
            </a:pPr>
            <a:endParaRPr lang="en-IN" sz="1800" b="0" i="0" u="none" strike="noStrike" baseline="0" dirty="0">
              <a:solidFill>
                <a:srgbClr val="000000"/>
              </a:solidFill>
              <a:latin typeface="Arial Black" panose="020B0A04020102020204" pitchFamily="34" charset="0"/>
            </a:endParaRP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This section includes data collection, augmentation of data transformations of the image </a:t>
            </a:r>
          </a:p>
          <a:p>
            <a:pPr marL="0" indent="0">
              <a:buNone/>
            </a:pPr>
            <a:r>
              <a:rPr lang="en-IN" sz="1600" dirty="0">
                <a:latin typeface="Times New Roman" panose="02020603050405020304" pitchFamily="18" charset="0"/>
                <a:cs typeface="Times New Roman" panose="02020603050405020304" pitchFamily="18" charset="0"/>
              </a:rPr>
              <a:t>       and finally classification of healthy cancerous bone using CNN.</a:t>
            </a: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experiment has been performed on the bone X –ray image datasets, collected from different sources </a:t>
            </a:r>
          </a:p>
          <a:p>
            <a:pPr marL="0" indent="0">
              <a:buNone/>
            </a:pPr>
            <a:r>
              <a:rPr lang="en-IN" sz="1600" dirty="0">
                <a:latin typeface="Times New Roman" panose="02020603050405020304" pitchFamily="18" charset="0"/>
                <a:cs typeface="Times New Roman" panose="02020603050405020304" pitchFamily="18" charset="0"/>
              </a:rPr>
              <a:t>      publicly  available for research such as Indian Institute of Engineering Science and Technology (IIEST) </a:t>
            </a:r>
          </a:p>
          <a:p>
            <a:pPr marL="0" indent="0">
              <a:buNone/>
            </a:pPr>
            <a:r>
              <a:rPr lang="en-IN" sz="1600" dirty="0">
                <a:latin typeface="Times New Roman" panose="02020603050405020304" pitchFamily="18" charset="0"/>
                <a:cs typeface="Times New Roman" panose="02020603050405020304" pitchFamily="18" charset="0"/>
              </a:rPr>
              <a:t>  The fractured and healthy bone shown in figure .</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most common sites for bone fractures are the wrist, ankle and hip.</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Bone fractures are a very common injury and can effect anyone at </a:t>
            </a:r>
          </a:p>
          <a:p>
            <a:pPr marL="0" indent="0">
              <a:buClr>
                <a:schemeClr val="accent1"/>
              </a:buClr>
              <a:buNone/>
            </a:pPr>
            <a:r>
              <a:rPr lang="en-IN" sz="1600" dirty="0">
                <a:latin typeface="Times New Roman" panose="02020603050405020304" pitchFamily="18" charset="0"/>
                <a:cs typeface="Times New Roman" panose="02020603050405020304" pitchFamily="18" charset="0"/>
              </a:rPr>
              <a:t>     any age. </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Fractured Bones can heal on their own but it take some time </a:t>
            </a:r>
          </a:p>
          <a:p>
            <a:pPr marL="0" indent="0">
              <a:buClr>
                <a:schemeClr val="accent1"/>
              </a:buClr>
              <a:buNone/>
            </a:pPr>
            <a:r>
              <a:rPr lang="en-IN" sz="1600" dirty="0">
                <a:latin typeface="Times New Roman" panose="02020603050405020304" pitchFamily="18" charset="0"/>
                <a:cs typeface="Times New Roman" panose="02020603050405020304" pitchFamily="18" charset="0"/>
              </a:rPr>
              <a:t>     like few months to a year .</a:t>
            </a:r>
          </a:p>
          <a:p>
            <a:pPr>
              <a:buFont typeface="Wingdings" panose="05000000000000000000" pitchFamily="2" charset="2"/>
              <a:buChar char="Ø"/>
            </a:pPr>
            <a:endParaRPr lang="en-IN" sz="1600" dirty="0">
              <a:latin typeface="Arial" panose="020B0604020202020204" pitchFamily="34" charset="0"/>
              <a:cs typeface="Arial" panose="020B0604020202020204" pitchFamily="34" charset="0"/>
            </a:endParaRPr>
          </a:p>
          <a:p>
            <a:pPr algn="l">
              <a:buFont typeface="Wingdings" panose="05000000000000000000" pitchFamily="2" charset="2"/>
              <a:buChar char="Ø"/>
            </a:pPr>
            <a:endParaRPr lang="en-IN" dirty="0"/>
          </a:p>
        </p:txBody>
      </p:sp>
      <p:sp>
        <p:nvSpPr>
          <p:cNvPr id="2" name="TextBox 1">
            <a:extLst>
              <a:ext uri="{FF2B5EF4-FFF2-40B4-BE49-F238E27FC236}">
                <a16:creationId xmlns:a16="http://schemas.microsoft.com/office/drawing/2014/main" id="{B5FE95EE-D216-F729-F182-8D8E027AF7F2}"/>
              </a:ext>
            </a:extLst>
          </p:cNvPr>
          <p:cNvSpPr txBox="1"/>
          <p:nvPr/>
        </p:nvSpPr>
        <p:spPr>
          <a:xfrm>
            <a:off x="1409700" y="681038"/>
            <a:ext cx="8420100" cy="830997"/>
          </a:xfrm>
          <a:prstGeom prst="rect">
            <a:avLst/>
          </a:prstGeom>
          <a:noFill/>
        </p:spPr>
        <p:txBody>
          <a:bodyPr wrap="square" rtlCol="0">
            <a:spAutoFit/>
          </a:bodyPr>
          <a:lstStyle/>
          <a:p>
            <a:pPr algn="ctr"/>
            <a:r>
              <a:rPr lang="en-US" sz="4800" dirty="0">
                <a:latin typeface="Arial Black" panose="020B0A04020102020204" pitchFamily="34" charset="0"/>
              </a:rPr>
              <a:t>EXISTING SYSYTEM</a:t>
            </a:r>
            <a:endParaRPr lang="en-IN" sz="4800" dirty="0">
              <a:latin typeface="Arial Black" panose="020B0A04020102020204" pitchFamily="34" charset="0"/>
            </a:endParaRPr>
          </a:p>
        </p:txBody>
      </p:sp>
      <p:sp>
        <p:nvSpPr>
          <p:cNvPr id="4" name="TextBox 3">
            <a:extLst>
              <a:ext uri="{FF2B5EF4-FFF2-40B4-BE49-F238E27FC236}">
                <a16:creationId xmlns:a16="http://schemas.microsoft.com/office/drawing/2014/main" id="{4D57C6BE-4F39-6D0D-B8FD-1AF384398B82}"/>
              </a:ext>
            </a:extLst>
          </p:cNvPr>
          <p:cNvSpPr txBox="1"/>
          <p:nvPr/>
        </p:nvSpPr>
        <p:spPr>
          <a:xfrm>
            <a:off x="1543050" y="1924050"/>
            <a:ext cx="8562975" cy="615553"/>
          </a:xfrm>
          <a:prstGeom prst="rect">
            <a:avLst/>
          </a:prstGeom>
          <a:noFill/>
        </p:spPr>
        <p:txBody>
          <a:bodyPr wrap="square" rtlCol="0">
            <a:spAutoFit/>
          </a:bodyPr>
          <a:lstStyle/>
          <a:p>
            <a:endParaRPr lang="en-IN" sz="1600" dirty="0">
              <a:latin typeface="Arial" panose="020B0604020202020204" pitchFamily="34" charset="0"/>
              <a:cs typeface="Arial" panose="020B0604020202020204" pitchFamily="34" charset="0"/>
            </a:endParaRPr>
          </a:p>
          <a:p>
            <a:endParaRPr lang="en-IN" dirty="0"/>
          </a:p>
        </p:txBody>
      </p:sp>
      <p:pic>
        <p:nvPicPr>
          <p:cNvPr id="5" name="Picture 4">
            <a:extLst>
              <a:ext uri="{FF2B5EF4-FFF2-40B4-BE49-F238E27FC236}">
                <a16:creationId xmlns:a16="http://schemas.microsoft.com/office/drawing/2014/main" id="{4F7BE029-0B2B-2B8B-2AB6-2017DB204E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4554" y="3327753"/>
            <a:ext cx="3829685" cy="2266996"/>
          </a:xfrm>
          <a:prstGeom prst="rect">
            <a:avLst/>
          </a:prstGeom>
        </p:spPr>
      </p:pic>
      <p:pic>
        <p:nvPicPr>
          <p:cNvPr id="6" name="Picture 5">
            <a:extLst>
              <a:ext uri="{FF2B5EF4-FFF2-40B4-BE49-F238E27FC236}">
                <a16:creationId xmlns:a16="http://schemas.microsoft.com/office/drawing/2014/main" id="{2840F00C-D57A-1FCF-0BCB-FB9634B5F6EA}"/>
              </a:ext>
            </a:extLst>
          </p:cNvPr>
          <p:cNvPicPr/>
          <p:nvPr/>
        </p:nvPicPr>
        <p:blipFill>
          <a:blip r:embed="rId3"/>
          <a:stretch>
            <a:fillRect/>
          </a:stretch>
        </p:blipFill>
        <p:spPr>
          <a:xfrm>
            <a:off x="11064239" y="1"/>
            <a:ext cx="1099503" cy="1054100"/>
          </a:xfrm>
          <a:prstGeom prst="rect">
            <a:avLst/>
          </a:prstGeom>
        </p:spPr>
      </p:pic>
    </p:spTree>
    <p:extLst>
      <p:ext uri="{BB962C8B-B14F-4D97-AF65-F5344CB8AC3E}">
        <p14:creationId xmlns:p14="http://schemas.microsoft.com/office/powerpoint/2010/main" val="182346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3E7EF-58B7-3044-4422-56132BA1753B}"/>
              </a:ext>
            </a:extLst>
          </p:cNvPr>
          <p:cNvSpPr>
            <a:spLocks noGrp="1"/>
          </p:cNvSpPr>
          <p:nvPr>
            <p:ph type="title"/>
          </p:nvPr>
        </p:nvSpPr>
        <p:spPr/>
        <p:txBody>
          <a:bodyPr>
            <a:normAutofit/>
          </a:bodyPr>
          <a:lstStyle/>
          <a:p>
            <a:pPr algn="ctr"/>
            <a:r>
              <a:rPr lang="en-US" sz="4800" dirty="0">
                <a:solidFill>
                  <a:schemeClr val="tx1"/>
                </a:solidFill>
                <a:latin typeface="Arial Black" panose="020B0A04020102020204" pitchFamily="34" charset="0"/>
              </a:rPr>
              <a:t>PROPOSED SYSTEM</a:t>
            </a:r>
            <a:endParaRPr lang="en-IN" sz="4800" dirty="0">
              <a:solidFill>
                <a:schemeClr val="tx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957F0779-253B-7AE8-A7B3-E64BC09E2CAC}"/>
              </a:ext>
            </a:extLst>
          </p:cNvPr>
          <p:cNvSpPr>
            <a:spLocks noGrp="1"/>
          </p:cNvSpPr>
          <p:nvPr>
            <p:ph idx="1"/>
          </p:nvPr>
        </p:nvSpPr>
        <p:spPr>
          <a:xfrm>
            <a:off x="476251" y="1609726"/>
            <a:ext cx="11496674" cy="4610100"/>
          </a:xfrm>
        </p:spPr>
        <p:txBody>
          <a:bodyPr>
            <a:normAutofit lnSpcReduction="10000"/>
          </a:bodyPr>
          <a:lstStyle/>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accuracy of such an ensemble model depends on several factors like : </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   Number and type of classifiers</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   Features used</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   Partitioning method ( Training and Testing sets )</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   The aggregation method and</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   Type of training .</a:t>
            </a: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 A successful </a:t>
            </a:r>
            <a:r>
              <a:rPr lang="en-IN" sz="1600" dirty="0" err="1">
                <a:latin typeface="Times New Roman" panose="02020603050405020304" pitchFamily="18" charset="0"/>
                <a:cs typeface="Times New Roman" panose="02020603050405020304" pitchFamily="18" charset="0"/>
              </a:rPr>
              <a:t>esembling</a:t>
            </a:r>
            <a:r>
              <a:rPr lang="en-IN" sz="1600" dirty="0">
                <a:latin typeface="Times New Roman" panose="02020603050405020304" pitchFamily="18" charset="0"/>
                <a:cs typeface="Times New Roman" panose="02020603050405020304" pitchFamily="18" charset="0"/>
              </a:rPr>
              <a:t> depends on the design of the individual classifiers , selection of classifier and design of the fusion mechanism.</a:t>
            </a: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This section includes data collection, augmentation of data transformations of the image and finally classification of healthy cancerous bone using CNN.</a:t>
            </a: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experiment has been performed on the bone X –ray image datasets, collected from different sources publicly available for research such as Indian Institute of Engineering Science and Technology (IIEST) </a:t>
            </a: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fractured and healthy bone shown in figure .</a:t>
            </a:r>
          </a:p>
          <a:p>
            <a:pPr marL="0" indent="0">
              <a:buNone/>
            </a:pPr>
            <a:endParaRPr lang="en-IN" sz="1600" dirty="0">
              <a:latin typeface="Arial" panose="020B0604020202020204" pitchFamily="34" charset="0"/>
              <a:cs typeface="Arial" panose="020B0604020202020204" pitchFamily="34" charset="0"/>
            </a:endParaRPr>
          </a:p>
          <a:p>
            <a:pPr marL="0" indent="0">
              <a:buNone/>
            </a:pPr>
            <a:endParaRPr lang="en-IN" dirty="0"/>
          </a:p>
        </p:txBody>
      </p:sp>
      <p:pic>
        <p:nvPicPr>
          <p:cNvPr id="6" name="Picture 5">
            <a:extLst>
              <a:ext uri="{FF2B5EF4-FFF2-40B4-BE49-F238E27FC236}">
                <a16:creationId xmlns:a16="http://schemas.microsoft.com/office/drawing/2014/main" id="{EFCCC004-2147-E8C8-822F-C9A3FF0BC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7850" y="1897825"/>
            <a:ext cx="3252171" cy="2065401"/>
          </a:xfrm>
          <a:prstGeom prst="rect">
            <a:avLst/>
          </a:prstGeom>
        </p:spPr>
      </p:pic>
      <p:pic>
        <p:nvPicPr>
          <p:cNvPr id="4" name="Picture 3">
            <a:extLst>
              <a:ext uri="{FF2B5EF4-FFF2-40B4-BE49-F238E27FC236}">
                <a16:creationId xmlns:a16="http://schemas.microsoft.com/office/drawing/2014/main" id="{81FA08F2-9EBD-9C4E-0836-FAD255455B7C}"/>
              </a:ext>
            </a:extLst>
          </p:cNvPr>
          <p:cNvPicPr/>
          <p:nvPr/>
        </p:nvPicPr>
        <p:blipFill>
          <a:blip r:embed="rId3"/>
          <a:stretch>
            <a:fillRect/>
          </a:stretch>
        </p:blipFill>
        <p:spPr>
          <a:xfrm>
            <a:off x="11121708" y="0"/>
            <a:ext cx="1070292" cy="975678"/>
          </a:xfrm>
          <a:prstGeom prst="rect">
            <a:avLst/>
          </a:prstGeom>
        </p:spPr>
      </p:pic>
    </p:spTree>
    <p:extLst>
      <p:ext uri="{BB962C8B-B14F-4D97-AF65-F5344CB8AC3E}">
        <p14:creationId xmlns:p14="http://schemas.microsoft.com/office/powerpoint/2010/main" val="754254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47080A-336A-8A8F-4F2D-37B4B45F0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600" y="1893845"/>
            <a:ext cx="2997976" cy="3421962"/>
          </a:xfrm>
          <a:prstGeom prst="rect">
            <a:avLst/>
          </a:prstGeom>
        </p:spPr>
      </p:pic>
      <p:sp>
        <p:nvSpPr>
          <p:cNvPr id="6" name="TextBox 5">
            <a:extLst>
              <a:ext uri="{FF2B5EF4-FFF2-40B4-BE49-F238E27FC236}">
                <a16:creationId xmlns:a16="http://schemas.microsoft.com/office/drawing/2014/main" id="{5E8B1C1D-112F-3D7D-281F-93A8E07C839E}"/>
              </a:ext>
            </a:extLst>
          </p:cNvPr>
          <p:cNvSpPr txBox="1"/>
          <p:nvPr/>
        </p:nvSpPr>
        <p:spPr>
          <a:xfrm>
            <a:off x="2314575" y="914711"/>
            <a:ext cx="8760601" cy="892552"/>
          </a:xfrm>
          <a:prstGeom prst="rect">
            <a:avLst/>
          </a:prstGeom>
          <a:noFill/>
        </p:spPr>
        <p:txBody>
          <a:bodyPr wrap="square" rtlCol="0">
            <a:spAutoFit/>
          </a:bodyPr>
          <a:lstStyle/>
          <a:p>
            <a:r>
              <a:rPr lang="en-IN" sz="3200" dirty="0">
                <a:latin typeface="Arial Black" panose="020B0A04020102020204" pitchFamily="34" charset="0"/>
              </a:rPr>
              <a:t>BONE FRACTURE : </a:t>
            </a:r>
            <a:r>
              <a:rPr lang="en-IN" sz="2800" dirty="0">
                <a:latin typeface="Arial Black" panose="020B0A04020102020204" pitchFamily="34" charset="0"/>
              </a:rPr>
              <a:t>A COMMON INJURY </a:t>
            </a:r>
          </a:p>
          <a:p>
            <a:endParaRPr lang="en-IN" sz="2000" dirty="0">
              <a:latin typeface="Arial Black" panose="020B0A04020102020204" pitchFamily="34" charset="0"/>
            </a:endParaRPr>
          </a:p>
        </p:txBody>
      </p:sp>
      <p:sp>
        <p:nvSpPr>
          <p:cNvPr id="8" name="TextBox 7">
            <a:extLst>
              <a:ext uri="{FF2B5EF4-FFF2-40B4-BE49-F238E27FC236}">
                <a16:creationId xmlns:a16="http://schemas.microsoft.com/office/drawing/2014/main" id="{5027BB5A-C376-23A6-8F13-3DA3CC27FA3D}"/>
              </a:ext>
            </a:extLst>
          </p:cNvPr>
          <p:cNvSpPr txBox="1"/>
          <p:nvPr/>
        </p:nvSpPr>
        <p:spPr>
          <a:xfrm>
            <a:off x="4514851" y="2204442"/>
            <a:ext cx="6076950" cy="2800767"/>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Bone fractures are a common injury, often requiring  treatment accurate and timely diagnosis for effective. </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Traditional methods of fracture detection have limitations.</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Leveraging binary classifications can significantly improve accuracy and efficiency.</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most common sites for bone fractures are the wrist, ankle and hip.</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Bone fractures are a very common injury and can effect anyone at any age. </a:t>
            </a:r>
          </a:p>
          <a:p>
            <a:pPr marL="285750" indent="-285750">
              <a:buClr>
                <a:schemeClr val="accent1"/>
              </a:buCl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Fractured Bones can heal on their own but it take some time like few months to a year .</a:t>
            </a:r>
          </a:p>
        </p:txBody>
      </p:sp>
      <p:pic>
        <p:nvPicPr>
          <p:cNvPr id="2" name="Picture 1">
            <a:extLst>
              <a:ext uri="{FF2B5EF4-FFF2-40B4-BE49-F238E27FC236}">
                <a16:creationId xmlns:a16="http://schemas.microsoft.com/office/drawing/2014/main" id="{52190BBA-3964-C4D6-4D19-0487251947D4}"/>
              </a:ext>
            </a:extLst>
          </p:cNvPr>
          <p:cNvPicPr/>
          <p:nvPr/>
        </p:nvPicPr>
        <p:blipFill>
          <a:blip r:embed="rId3"/>
          <a:stretch>
            <a:fillRect/>
          </a:stretch>
        </p:blipFill>
        <p:spPr>
          <a:xfrm>
            <a:off x="11075176" y="16993"/>
            <a:ext cx="1082992" cy="1001078"/>
          </a:xfrm>
          <a:prstGeom prst="rect">
            <a:avLst/>
          </a:prstGeom>
        </p:spPr>
      </p:pic>
    </p:spTree>
    <p:extLst>
      <p:ext uri="{BB962C8B-B14F-4D97-AF65-F5344CB8AC3E}">
        <p14:creationId xmlns:p14="http://schemas.microsoft.com/office/powerpoint/2010/main" val="1597721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3CC1F-8DB1-E5F3-300E-C04AD74786E2}"/>
              </a:ext>
            </a:extLst>
          </p:cNvPr>
          <p:cNvSpPr>
            <a:spLocks noGrp="1"/>
          </p:cNvSpPr>
          <p:nvPr>
            <p:ph type="title"/>
          </p:nvPr>
        </p:nvSpPr>
        <p:spPr/>
        <p:txBody>
          <a:bodyPr>
            <a:normAutofit/>
          </a:bodyPr>
          <a:lstStyle/>
          <a:p>
            <a:pPr algn="ctr"/>
            <a:r>
              <a:rPr lang="en-US" sz="4000" dirty="0">
                <a:solidFill>
                  <a:schemeClr val="tx1"/>
                </a:solidFill>
                <a:latin typeface="Arial Black" panose="020B0A04020102020204" pitchFamily="34" charset="0"/>
              </a:rPr>
              <a:t>REQUIREMENTS</a:t>
            </a:r>
            <a:r>
              <a:rPr lang="en-US" sz="4800" dirty="0">
                <a:solidFill>
                  <a:schemeClr val="tx1"/>
                </a:solidFill>
                <a:latin typeface="Arial Black" panose="020B0A04020102020204" pitchFamily="34" charset="0"/>
              </a:rPr>
              <a:t>:</a:t>
            </a:r>
            <a:endParaRPr lang="en-IN" sz="4800" dirty="0">
              <a:solidFill>
                <a:schemeClr val="tx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9373A5F2-2593-9A67-B223-51C09348EA5E}"/>
              </a:ext>
            </a:extLst>
          </p:cNvPr>
          <p:cNvSpPr>
            <a:spLocks noGrp="1"/>
          </p:cNvSpPr>
          <p:nvPr>
            <p:ph idx="1"/>
          </p:nvPr>
        </p:nvSpPr>
        <p:spPr>
          <a:xfrm>
            <a:off x="971550" y="1797050"/>
            <a:ext cx="10515600" cy="4351338"/>
          </a:xfrm>
        </p:spPr>
        <p:txBody>
          <a:bodyPr>
            <a:normAutofit fontScale="92500" lnSpcReduction="20000"/>
          </a:bodyPr>
          <a:lstStyle/>
          <a:p>
            <a:pPr marL="0" indent="0">
              <a:buNone/>
            </a:pPr>
            <a:r>
              <a:rPr lang="en-US" sz="2200" dirty="0">
                <a:latin typeface="Arial Black" panose="020B0A04020102020204" pitchFamily="34" charset="0"/>
              </a:rPr>
              <a:t>HARDWARE REQUIREMENTS :</a:t>
            </a:r>
          </a:p>
          <a:p>
            <a:pPr marL="0" indent="0">
              <a:buNone/>
            </a:pPr>
            <a:r>
              <a:rPr lang="en-US" sz="2000" dirty="0">
                <a:latin typeface="Arial Black" panose="020B0A04020102020204" pitchFamily="34" charset="0"/>
              </a:rPr>
              <a:t>    </a:t>
            </a:r>
          </a:p>
          <a:p>
            <a:pPr>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System Processors  :     Core2Duo.</a:t>
            </a:r>
          </a:p>
          <a:p>
            <a:pPr>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     Hard Disk                 :     150GB.</a:t>
            </a:r>
          </a:p>
          <a:p>
            <a:pPr>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     Speed                       :     2.4 GHZ    </a:t>
            </a:r>
          </a:p>
          <a:p>
            <a:pPr>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600" dirty="0">
              <a:latin typeface="Arial" panose="020B0604020202020204" pitchFamily="34" charset="0"/>
              <a:cs typeface="Arial" panose="020B0604020202020204" pitchFamily="34" charset="0"/>
            </a:endParaRPr>
          </a:p>
          <a:p>
            <a:pPr marL="0" indent="0">
              <a:buNone/>
            </a:pPr>
            <a:r>
              <a:rPr lang="en-US" sz="2200" dirty="0">
                <a:latin typeface="Arial Black" panose="020B0A04020102020204" pitchFamily="34" charset="0"/>
                <a:cs typeface="Arial" panose="020B0604020202020204" pitchFamily="34" charset="0"/>
              </a:rPr>
              <a:t>SOFTWARE REQUIRMENTS :</a:t>
            </a:r>
          </a:p>
          <a:p>
            <a:pPr>
              <a:buFont typeface="Wingdings" panose="05000000000000000000" pitchFamily="2" charset="2"/>
              <a:buChar char="v"/>
            </a:pPr>
            <a:endParaRPr lang="en-US" sz="2000" dirty="0">
              <a:latin typeface="Arial Black" panose="020B0A04020102020204" pitchFamily="34" charset="0"/>
              <a:cs typeface="Arial" panose="020B0604020202020204" pitchFamily="34" charset="0"/>
            </a:endParaRPr>
          </a:p>
          <a:p>
            <a:pPr>
              <a:buFont typeface="Wingdings" panose="05000000000000000000" pitchFamily="2" charset="2"/>
              <a:buChar char="v"/>
            </a:pPr>
            <a:r>
              <a:rPr lang="en-US" sz="2000" dirty="0">
                <a:latin typeface="Arial Black" panose="020B0A04020102020204" pitchFamily="34" charset="0"/>
                <a:cs typeface="Arial" panose="020B0604020202020204" pitchFamily="34" charset="0"/>
              </a:rPr>
              <a:t>  </a:t>
            </a:r>
            <a:r>
              <a:rPr lang="en-US" sz="1700" dirty="0">
                <a:latin typeface="Times New Roman" panose="02020603050405020304" pitchFamily="18" charset="0"/>
                <a:cs typeface="Times New Roman" panose="02020603050405020304" pitchFamily="18" charset="0"/>
              </a:rPr>
              <a:t>Operating system   : 32bitwindows 7 and on words.</a:t>
            </a:r>
          </a:p>
          <a:p>
            <a:pPr>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   Coding Language    : Python</a:t>
            </a:r>
          </a:p>
          <a:p>
            <a:pPr>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   IDE                          : Spider</a:t>
            </a:r>
          </a:p>
          <a:p>
            <a:pPr>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   Database                 : MYSQL </a:t>
            </a:r>
            <a:endParaRPr lang="en-IN" sz="17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09C4D92-425E-B9AE-277F-878C1AE3B462}"/>
              </a:ext>
            </a:extLst>
          </p:cNvPr>
          <p:cNvPicPr/>
          <p:nvPr/>
        </p:nvPicPr>
        <p:blipFill>
          <a:blip r:embed="rId2"/>
          <a:stretch>
            <a:fillRect/>
          </a:stretch>
        </p:blipFill>
        <p:spPr>
          <a:xfrm>
            <a:off x="11092074" y="0"/>
            <a:ext cx="1095692" cy="1026478"/>
          </a:xfrm>
          <a:prstGeom prst="rect">
            <a:avLst/>
          </a:prstGeom>
        </p:spPr>
      </p:pic>
    </p:spTree>
    <p:extLst>
      <p:ext uri="{BB962C8B-B14F-4D97-AF65-F5344CB8AC3E}">
        <p14:creationId xmlns:p14="http://schemas.microsoft.com/office/powerpoint/2010/main" val="3894684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C788-C95F-1F50-0C10-E3DD3B090501}"/>
              </a:ext>
            </a:extLst>
          </p:cNvPr>
          <p:cNvSpPr>
            <a:spLocks noGrp="1"/>
          </p:cNvSpPr>
          <p:nvPr>
            <p:ph type="title"/>
          </p:nvPr>
        </p:nvSpPr>
        <p:spPr>
          <a:xfrm>
            <a:off x="838200" y="212725"/>
            <a:ext cx="10201275" cy="1025525"/>
          </a:xfrm>
        </p:spPr>
        <p:txBody>
          <a:bodyPr>
            <a:normAutofit/>
          </a:bodyPr>
          <a:lstStyle/>
          <a:p>
            <a:pPr algn="ctr"/>
            <a:r>
              <a:rPr lang="en-US" sz="3600" dirty="0">
                <a:solidFill>
                  <a:schemeClr val="tx1"/>
                </a:solidFill>
                <a:latin typeface="Arial Black" panose="020B0A04020102020204" pitchFamily="34" charset="0"/>
              </a:rPr>
              <a:t>ARCHITECTURE</a:t>
            </a:r>
            <a:endParaRPr lang="en-IN" sz="3600" dirty="0">
              <a:solidFill>
                <a:schemeClr val="tx1"/>
              </a:solidFill>
              <a:latin typeface="Arial Black" panose="020B0A04020102020204" pitchFamily="34" charset="0"/>
            </a:endParaRPr>
          </a:p>
        </p:txBody>
      </p:sp>
      <p:pic>
        <p:nvPicPr>
          <p:cNvPr id="5" name="Content Placeholder 4">
            <a:extLst>
              <a:ext uri="{FF2B5EF4-FFF2-40B4-BE49-F238E27FC236}">
                <a16:creationId xmlns:a16="http://schemas.microsoft.com/office/drawing/2014/main" id="{78D6DB8D-C458-DCF7-1C5E-15AEC00309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9362" y="2160588"/>
            <a:ext cx="2973313" cy="3881437"/>
          </a:xfrm>
        </p:spPr>
      </p:pic>
      <p:pic>
        <p:nvPicPr>
          <p:cNvPr id="3" name="Picture 2">
            <a:extLst>
              <a:ext uri="{FF2B5EF4-FFF2-40B4-BE49-F238E27FC236}">
                <a16:creationId xmlns:a16="http://schemas.microsoft.com/office/drawing/2014/main" id="{0CEE95A0-80FF-114A-195F-E4E19FDC055B}"/>
              </a:ext>
            </a:extLst>
          </p:cNvPr>
          <p:cNvPicPr/>
          <p:nvPr/>
        </p:nvPicPr>
        <p:blipFill>
          <a:blip r:embed="rId3"/>
          <a:stretch>
            <a:fillRect/>
          </a:stretch>
        </p:blipFill>
        <p:spPr>
          <a:xfrm>
            <a:off x="11039475" y="0"/>
            <a:ext cx="1121092" cy="1025526"/>
          </a:xfrm>
          <a:prstGeom prst="rect">
            <a:avLst/>
          </a:prstGeom>
        </p:spPr>
      </p:pic>
    </p:spTree>
    <p:extLst>
      <p:ext uri="{BB962C8B-B14F-4D97-AF65-F5344CB8AC3E}">
        <p14:creationId xmlns:p14="http://schemas.microsoft.com/office/powerpoint/2010/main" val="36493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F036-D23A-6ED0-2269-86A142FB85BE}"/>
              </a:ext>
            </a:extLst>
          </p:cNvPr>
          <p:cNvSpPr>
            <a:spLocks noGrp="1"/>
          </p:cNvSpPr>
          <p:nvPr>
            <p:ph type="title"/>
          </p:nvPr>
        </p:nvSpPr>
        <p:spPr/>
        <p:txBody>
          <a:bodyPr/>
          <a:lstStyle/>
          <a:p>
            <a:pPr algn="ctr"/>
            <a:r>
              <a:rPr lang="en-US" dirty="0">
                <a:solidFill>
                  <a:schemeClr val="tx1"/>
                </a:solidFill>
                <a:latin typeface="Arial Black" panose="020B0A04020102020204" pitchFamily="34" charset="0"/>
              </a:rPr>
              <a:t>MODULES</a:t>
            </a:r>
            <a:r>
              <a:rPr lang="en-US" dirty="0">
                <a:latin typeface="Arial Black" panose="020B0A04020102020204" pitchFamily="34" charset="0"/>
              </a:rPr>
              <a:t>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677FB677-3BDD-D6A5-6153-6A60CD0A5372}"/>
              </a:ext>
            </a:extLst>
          </p:cNvPr>
          <p:cNvSpPr>
            <a:spLocks noGrp="1"/>
          </p:cNvSpPr>
          <p:nvPr>
            <p:ph idx="1"/>
          </p:nvPr>
        </p:nvSpPr>
        <p:spPr/>
        <p:txBody>
          <a:bodyPr>
            <a:normAutofit/>
          </a:bodyPr>
          <a:lstStyle/>
          <a:p>
            <a:pPr marL="0" indent="0">
              <a:buNone/>
            </a:pPr>
            <a:r>
              <a:rPr lang="en-US" sz="2000" dirty="0">
                <a:latin typeface="Arial Black" panose="020B0A04020102020204" pitchFamily="34" charset="0"/>
              </a:rPr>
              <a:t>MODULES OF BONE FRACTURE DETECTION :</a:t>
            </a:r>
          </a:p>
          <a:p>
            <a:pPr marL="0" indent="0">
              <a:buNone/>
            </a:pPr>
            <a:r>
              <a:rPr lang="en-US" sz="1800" dirty="0">
                <a:latin typeface="Arial Black" panose="020B0A04020102020204" pitchFamily="34" charset="0"/>
              </a:rPr>
              <a:t>        </a:t>
            </a:r>
          </a:p>
          <a:p>
            <a:pPr marL="0" indent="0">
              <a:buNone/>
            </a:pPr>
            <a:r>
              <a:rPr lang="en-US" sz="1600" dirty="0">
                <a:latin typeface="Arial" panose="020B0604020202020204" pitchFamily="34" charset="0"/>
                <a:cs typeface="Arial" panose="020B0604020202020204" pitchFamily="34" charset="0"/>
              </a:rPr>
              <a:t> </a:t>
            </a:r>
            <a:r>
              <a:rPr lang="en-US" sz="1600" dirty="0">
                <a:latin typeface="Times New Roman" panose="02020603050405020304" pitchFamily="18" charset="0"/>
                <a:cs typeface="Times New Roman" panose="02020603050405020304" pitchFamily="18" charset="0"/>
              </a:rPr>
              <a:t>The bone fracture detection system consists of four main modules , which are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Preprocessing</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Edge detection</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Feature extraction</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Classification</a:t>
            </a:r>
          </a:p>
          <a:p>
            <a:pPr marL="0" indent="0">
              <a:buNone/>
            </a:pPr>
            <a:endParaRPr lang="en-US" sz="1600" dirty="0">
              <a:latin typeface="Arial" panose="020B0604020202020204" pitchFamily="34" charset="0"/>
              <a:cs typeface="Arial" panose="020B0604020202020204" pitchFamily="34" charset="0"/>
            </a:endParaRPr>
          </a:p>
          <a:p>
            <a:pPr marL="0" indent="0">
              <a:buNone/>
            </a:pPr>
            <a:endParaRPr lang="en-I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3967FCC0-223A-16BE-C5BB-2F8C6C159F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100" y="3312319"/>
            <a:ext cx="5635268" cy="3230563"/>
          </a:xfrm>
          <a:prstGeom prst="rect">
            <a:avLst/>
          </a:prstGeom>
        </p:spPr>
      </p:pic>
      <p:pic>
        <p:nvPicPr>
          <p:cNvPr id="4" name="Picture 3">
            <a:extLst>
              <a:ext uri="{FF2B5EF4-FFF2-40B4-BE49-F238E27FC236}">
                <a16:creationId xmlns:a16="http://schemas.microsoft.com/office/drawing/2014/main" id="{0CEBEA4D-4B1D-8F39-C69C-DD1FB5A67660}"/>
              </a:ext>
            </a:extLst>
          </p:cNvPr>
          <p:cNvPicPr/>
          <p:nvPr/>
        </p:nvPicPr>
        <p:blipFill>
          <a:blip r:embed="rId3"/>
          <a:stretch>
            <a:fillRect/>
          </a:stretch>
        </p:blipFill>
        <p:spPr>
          <a:xfrm>
            <a:off x="11096308" y="0"/>
            <a:ext cx="1095692" cy="1051878"/>
          </a:xfrm>
          <a:prstGeom prst="rect">
            <a:avLst/>
          </a:prstGeom>
        </p:spPr>
      </p:pic>
    </p:spTree>
    <p:extLst>
      <p:ext uri="{BB962C8B-B14F-4D97-AF65-F5344CB8AC3E}">
        <p14:creationId xmlns:p14="http://schemas.microsoft.com/office/powerpoint/2010/main" val="1804141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16D15B-1B5E-953C-6467-9600C0D6F15D}"/>
              </a:ext>
            </a:extLst>
          </p:cNvPr>
          <p:cNvSpPr txBox="1"/>
          <p:nvPr/>
        </p:nvSpPr>
        <p:spPr>
          <a:xfrm>
            <a:off x="619125" y="685800"/>
            <a:ext cx="5334000" cy="2677656"/>
          </a:xfrm>
          <a:prstGeom prst="rect">
            <a:avLst/>
          </a:prstGeom>
          <a:noFill/>
        </p:spPr>
        <p:txBody>
          <a:bodyPr wrap="square" rtlCol="0">
            <a:spAutoFit/>
          </a:bodyPr>
          <a:lstStyle/>
          <a:p>
            <a:r>
              <a:rPr lang="en-US" sz="2400" dirty="0">
                <a:latin typeface="Arial Black" panose="020B0A04020102020204" pitchFamily="34" charset="0"/>
              </a:rPr>
              <a:t>Pre-processing :</a:t>
            </a:r>
          </a:p>
          <a:p>
            <a:r>
              <a:rPr lang="en-US" sz="2400" dirty="0">
                <a:latin typeface="Arial Black" panose="020B0A04020102020204" pitchFamily="34" charset="0"/>
              </a:rPr>
              <a:t>   </a:t>
            </a:r>
            <a:endParaRPr lang="en-US" sz="1600" dirty="0">
              <a:latin typeface="Arial" panose="020B0604020202020204" pitchFamily="34" charset="0"/>
              <a:cs typeface="Arial" panose="020B0604020202020204" pitchFamily="34" charset="0"/>
            </a:endParaRPr>
          </a:p>
          <a:p>
            <a:pPr marL="285750" indent="-285750">
              <a:buClr>
                <a:schemeClr val="accent1"/>
              </a:buClr>
              <a:buSzPct val="1000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Since a majority of the real – life data acquired is  noisy ,in-consistent, hence preprocessing of the acquired data plays a vital role.</a:t>
            </a:r>
          </a:p>
          <a:p>
            <a:pPr marL="285750" indent="-285750">
              <a:buClr>
                <a:schemeClr val="accent1"/>
              </a:buClr>
              <a:buSzPct val="10000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Clr>
                <a:schemeClr val="accent1"/>
              </a:buClr>
              <a:buSzPct val="1000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Shows an example of applying noise removal and image smoothing on an x – ray image </a:t>
            </a:r>
          </a:p>
          <a:p>
            <a:endParaRPr lang="en-IN" sz="2400" dirty="0">
              <a:latin typeface="Arial Black" panose="020B0A04020102020204" pitchFamily="34" charset="0"/>
            </a:endParaRPr>
          </a:p>
        </p:txBody>
      </p:sp>
      <p:pic>
        <p:nvPicPr>
          <p:cNvPr id="5" name="Picture 4">
            <a:extLst>
              <a:ext uri="{FF2B5EF4-FFF2-40B4-BE49-F238E27FC236}">
                <a16:creationId xmlns:a16="http://schemas.microsoft.com/office/drawing/2014/main" id="{34A5AF56-A227-6846-EDF2-117A49FCF4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37" y="3105150"/>
            <a:ext cx="3833813" cy="3590925"/>
          </a:xfrm>
          <a:prstGeom prst="rect">
            <a:avLst/>
          </a:prstGeom>
        </p:spPr>
      </p:pic>
      <p:sp>
        <p:nvSpPr>
          <p:cNvPr id="6" name="TextBox 5">
            <a:extLst>
              <a:ext uri="{FF2B5EF4-FFF2-40B4-BE49-F238E27FC236}">
                <a16:creationId xmlns:a16="http://schemas.microsoft.com/office/drawing/2014/main" id="{B4DA9F0A-7C19-4E33-5165-EE77EECEC2B7}"/>
              </a:ext>
            </a:extLst>
          </p:cNvPr>
          <p:cNvSpPr txBox="1"/>
          <p:nvPr/>
        </p:nvSpPr>
        <p:spPr>
          <a:xfrm>
            <a:off x="6096000" y="685800"/>
            <a:ext cx="5667375" cy="2492990"/>
          </a:xfrm>
          <a:prstGeom prst="rect">
            <a:avLst/>
          </a:prstGeom>
          <a:noFill/>
        </p:spPr>
        <p:txBody>
          <a:bodyPr wrap="square" rtlCol="0">
            <a:spAutoFit/>
          </a:bodyPr>
          <a:lstStyle/>
          <a:p>
            <a:r>
              <a:rPr lang="en-US" sz="2000" dirty="0">
                <a:latin typeface="Arial Black" panose="020B0A04020102020204" pitchFamily="34" charset="0"/>
              </a:rPr>
              <a:t>CLASSIFICATION :</a:t>
            </a:r>
          </a:p>
          <a:p>
            <a:endParaRPr lang="en-US" sz="2000" dirty="0">
              <a:latin typeface="Arial Black" panose="020B0A04020102020204" pitchFamily="34" charset="0"/>
            </a:endParaRPr>
          </a:p>
          <a:p>
            <a:pPr marL="342900" indent="-34290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We randomly took 80% of dataset for the training session and 20% of the dataset for the testing . </a:t>
            </a:r>
          </a:p>
          <a:p>
            <a:pPr marL="342900" indent="-34290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Each  category has its own properties, and the data that belong to that category also have those properties .</a:t>
            </a:r>
          </a:p>
          <a:p>
            <a:pPr marL="342900" indent="-34290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accuracy of these classifiers can be evaluated using a variety of methods .</a:t>
            </a:r>
          </a:p>
          <a:p>
            <a:pPr marL="342900" indent="-342900">
              <a:buFont typeface="Wingdings" panose="05000000000000000000" pitchFamily="2" charset="2"/>
              <a:buChar char="Ø"/>
            </a:pPr>
            <a:endParaRPr lang="en-IN" sz="1600" dirty="0">
              <a:latin typeface="Arial" panose="020B0604020202020204" pitchFamily="34" charset="0"/>
              <a:cs typeface="Arial" panose="020B0604020202020204" pitchFamily="34" charset="0"/>
            </a:endParaRPr>
          </a:p>
        </p:txBody>
      </p:sp>
      <p:graphicFrame>
        <p:nvGraphicFramePr>
          <p:cNvPr id="11" name="Table 10">
            <a:extLst>
              <a:ext uri="{FF2B5EF4-FFF2-40B4-BE49-F238E27FC236}">
                <a16:creationId xmlns:a16="http://schemas.microsoft.com/office/drawing/2014/main" id="{FEABE754-5747-7894-9775-18C9B21FB0FA}"/>
              </a:ext>
            </a:extLst>
          </p:cNvPr>
          <p:cNvGraphicFramePr>
            <a:graphicFrameLocks noGrp="1"/>
          </p:cNvGraphicFramePr>
          <p:nvPr>
            <p:extLst>
              <p:ext uri="{D42A27DB-BD31-4B8C-83A1-F6EECF244321}">
                <p14:modId xmlns:p14="http://schemas.microsoft.com/office/powerpoint/2010/main" val="4180434002"/>
              </p:ext>
            </p:extLst>
          </p:nvPr>
        </p:nvGraphicFramePr>
        <p:xfrm>
          <a:off x="5986461" y="3363456"/>
          <a:ext cx="5886452" cy="2763520"/>
        </p:xfrm>
        <a:graphic>
          <a:graphicData uri="http://schemas.openxmlformats.org/drawingml/2006/table">
            <a:tbl>
              <a:tblPr firstRow="1" bandRow="1">
                <a:tableStyleId>{073A0DAA-6AF3-43AB-8588-CEC1D06C72B9}</a:tableStyleId>
              </a:tblPr>
              <a:tblGrid>
                <a:gridCol w="2943226">
                  <a:extLst>
                    <a:ext uri="{9D8B030D-6E8A-4147-A177-3AD203B41FA5}">
                      <a16:colId xmlns:a16="http://schemas.microsoft.com/office/drawing/2014/main" val="4261082222"/>
                    </a:ext>
                  </a:extLst>
                </a:gridCol>
                <a:gridCol w="2943226">
                  <a:extLst>
                    <a:ext uri="{9D8B030D-6E8A-4147-A177-3AD203B41FA5}">
                      <a16:colId xmlns:a16="http://schemas.microsoft.com/office/drawing/2014/main" val="591613898"/>
                    </a:ext>
                  </a:extLst>
                </a:gridCol>
              </a:tblGrid>
              <a:tr h="370840">
                <a:tc>
                  <a:txBody>
                    <a:bodyPr/>
                    <a:lstStyle/>
                    <a:p>
                      <a:pPr algn="ctr"/>
                      <a:r>
                        <a:rPr lang="en-US" dirty="0"/>
                        <a:t>ALGORITHMS </a:t>
                      </a:r>
                      <a:endParaRPr lang="en-IN" dirty="0"/>
                    </a:p>
                  </a:txBody>
                  <a:tcPr/>
                </a:tc>
                <a:tc>
                  <a:txBody>
                    <a:bodyPr/>
                    <a:lstStyle/>
                    <a:p>
                      <a:pPr algn="ctr"/>
                      <a:r>
                        <a:rPr lang="en-US" dirty="0"/>
                        <a:t>PARAMETERS</a:t>
                      </a:r>
                    </a:p>
                    <a:p>
                      <a:pPr algn="ctr"/>
                      <a:endParaRPr lang="en-IN" dirty="0"/>
                    </a:p>
                  </a:txBody>
                  <a:tcPr/>
                </a:tc>
                <a:extLst>
                  <a:ext uri="{0D108BD9-81ED-4DB2-BD59-A6C34878D82A}">
                    <a16:rowId xmlns:a16="http://schemas.microsoft.com/office/drawing/2014/main" val="3017629530"/>
                  </a:ext>
                </a:extLst>
              </a:tr>
              <a:tr h="370840">
                <a:tc>
                  <a:txBody>
                    <a:bodyPr/>
                    <a:lstStyle/>
                    <a:p>
                      <a:r>
                        <a:rPr lang="en-US" dirty="0"/>
                        <a:t>Gaussian Naïve Bayes </a:t>
                      </a:r>
                      <a:endParaRPr lang="en-IN" dirty="0"/>
                    </a:p>
                  </a:txBody>
                  <a:tcPr/>
                </a:tc>
                <a:tc>
                  <a:txBody>
                    <a:bodyPr/>
                    <a:lstStyle/>
                    <a:p>
                      <a:r>
                        <a:rPr lang="en-US" dirty="0"/>
                        <a:t>Defaults</a:t>
                      </a:r>
                      <a:endParaRPr lang="en-IN" dirty="0"/>
                    </a:p>
                  </a:txBody>
                  <a:tcPr/>
                </a:tc>
                <a:extLst>
                  <a:ext uri="{0D108BD9-81ED-4DB2-BD59-A6C34878D82A}">
                    <a16:rowId xmlns:a16="http://schemas.microsoft.com/office/drawing/2014/main" val="968808517"/>
                  </a:ext>
                </a:extLst>
              </a:tr>
              <a:tr h="370840">
                <a:tc>
                  <a:txBody>
                    <a:bodyPr/>
                    <a:lstStyle/>
                    <a:p>
                      <a:r>
                        <a:rPr lang="en-US" dirty="0"/>
                        <a:t>Decision Tree</a:t>
                      </a:r>
                      <a:endParaRPr lang="en-IN" dirty="0"/>
                    </a:p>
                  </a:txBody>
                  <a:tcPr/>
                </a:tc>
                <a:tc>
                  <a:txBody>
                    <a:bodyPr/>
                    <a:lstStyle/>
                    <a:p>
                      <a:r>
                        <a:rPr lang="en-US" dirty="0"/>
                        <a:t>Minimum sample </a:t>
                      </a:r>
                    </a:p>
                    <a:p>
                      <a:r>
                        <a:rPr lang="en-US" dirty="0"/>
                        <a:t>Split = 40</a:t>
                      </a:r>
                      <a:endParaRPr lang="en-IN" dirty="0"/>
                    </a:p>
                  </a:txBody>
                  <a:tcPr/>
                </a:tc>
                <a:extLst>
                  <a:ext uri="{0D108BD9-81ED-4DB2-BD59-A6C34878D82A}">
                    <a16:rowId xmlns:a16="http://schemas.microsoft.com/office/drawing/2014/main" val="1638589478"/>
                  </a:ext>
                </a:extLst>
              </a:tr>
              <a:tr h="370840">
                <a:tc>
                  <a:txBody>
                    <a:bodyPr/>
                    <a:lstStyle/>
                    <a:p>
                      <a:r>
                        <a:rPr lang="en-US" dirty="0"/>
                        <a:t>Nearest Neighbors</a:t>
                      </a:r>
                      <a:endParaRPr lang="en-IN" dirty="0"/>
                    </a:p>
                  </a:txBody>
                  <a:tcPr/>
                </a:tc>
                <a:tc>
                  <a:txBody>
                    <a:bodyPr/>
                    <a:lstStyle/>
                    <a:p>
                      <a:r>
                        <a:rPr lang="en-US" dirty="0"/>
                        <a:t>No . of Neighbors = 30</a:t>
                      </a:r>
                      <a:endParaRPr lang="en-IN" dirty="0"/>
                    </a:p>
                  </a:txBody>
                  <a:tcPr/>
                </a:tc>
                <a:extLst>
                  <a:ext uri="{0D108BD9-81ED-4DB2-BD59-A6C34878D82A}">
                    <a16:rowId xmlns:a16="http://schemas.microsoft.com/office/drawing/2014/main" val="3465166722"/>
                  </a:ext>
                </a:extLst>
              </a:tr>
              <a:tr h="370840">
                <a:tc>
                  <a:txBody>
                    <a:bodyPr/>
                    <a:lstStyle/>
                    <a:p>
                      <a:r>
                        <a:rPr lang="en-US" dirty="0"/>
                        <a:t>SVM </a:t>
                      </a:r>
                      <a:endParaRPr lang="en-IN" dirty="0"/>
                    </a:p>
                  </a:txBody>
                  <a:tcPr/>
                </a:tc>
                <a:tc>
                  <a:txBody>
                    <a:bodyPr/>
                    <a:lstStyle/>
                    <a:p>
                      <a:r>
                        <a:rPr lang="en-US" dirty="0"/>
                        <a:t>Kernal = </a:t>
                      </a:r>
                      <a:r>
                        <a:rPr lang="en-US" dirty="0" err="1"/>
                        <a:t>rbf</a:t>
                      </a:r>
                      <a:r>
                        <a:rPr lang="en-US" dirty="0"/>
                        <a:t>, C = 10000</a:t>
                      </a:r>
                      <a:endParaRPr lang="en-IN" dirty="0"/>
                    </a:p>
                  </a:txBody>
                  <a:tcPr/>
                </a:tc>
                <a:extLst>
                  <a:ext uri="{0D108BD9-81ED-4DB2-BD59-A6C34878D82A}">
                    <a16:rowId xmlns:a16="http://schemas.microsoft.com/office/drawing/2014/main" val="3080124082"/>
                  </a:ext>
                </a:extLst>
              </a:tr>
              <a:tr h="370840">
                <a:tc>
                  <a:txBody>
                    <a:bodyPr/>
                    <a:lstStyle/>
                    <a:p>
                      <a:r>
                        <a:rPr lang="en-US" dirty="0"/>
                        <a:t>Random Forest </a:t>
                      </a:r>
                      <a:endParaRPr lang="en-IN" dirty="0"/>
                    </a:p>
                  </a:txBody>
                  <a:tcPr/>
                </a:tc>
                <a:tc>
                  <a:txBody>
                    <a:bodyPr/>
                    <a:lstStyle/>
                    <a:p>
                      <a:r>
                        <a:rPr lang="en-US" dirty="0"/>
                        <a:t>Defaults </a:t>
                      </a:r>
                      <a:endParaRPr lang="en-IN" dirty="0"/>
                    </a:p>
                  </a:txBody>
                  <a:tcPr/>
                </a:tc>
                <a:extLst>
                  <a:ext uri="{0D108BD9-81ED-4DB2-BD59-A6C34878D82A}">
                    <a16:rowId xmlns:a16="http://schemas.microsoft.com/office/drawing/2014/main" val="2122635376"/>
                  </a:ext>
                </a:extLst>
              </a:tr>
            </a:tbl>
          </a:graphicData>
        </a:graphic>
      </p:graphicFrame>
      <p:pic>
        <p:nvPicPr>
          <p:cNvPr id="2" name="Picture 1">
            <a:extLst>
              <a:ext uri="{FF2B5EF4-FFF2-40B4-BE49-F238E27FC236}">
                <a16:creationId xmlns:a16="http://schemas.microsoft.com/office/drawing/2014/main" id="{B6DD591A-3F0E-174F-2EC3-92ED283FBD36}"/>
              </a:ext>
            </a:extLst>
          </p:cNvPr>
          <p:cNvPicPr/>
          <p:nvPr/>
        </p:nvPicPr>
        <p:blipFill>
          <a:blip r:embed="rId3"/>
          <a:stretch>
            <a:fillRect/>
          </a:stretch>
        </p:blipFill>
        <p:spPr>
          <a:xfrm>
            <a:off x="11083608" y="23356"/>
            <a:ext cx="1070292" cy="990065"/>
          </a:xfrm>
          <a:prstGeom prst="rect">
            <a:avLst/>
          </a:prstGeom>
        </p:spPr>
      </p:pic>
    </p:spTree>
    <p:extLst>
      <p:ext uri="{BB962C8B-B14F-4D97-AF65-F5344CB8AC3E}">
        <p14:creationId xmlns:p14="http://schemas.microsoft.com/office/powerpoint/2010/main" val="2290133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28AFE1-EB4A-F1A1-600A-0D1BA906AAB0}"/>
              </a:ext>
            </a:extLst>
          </p:cNvPr>
          <p:cNvSpPr txBox="1"/>
          <p:nvPr/>
        </p:nvSpPr>
        <p:spPr>
          <a:xfrm>
            <a:off x="1038225" y="261936"/>
            <a:ext cx="10572750" cy="1969770"/>
          </a:xfrm>
          <a:prstGeom prst="rect">
            <a:avLst/>
          </a:prstGeom>
          <a:noFill/>
        </p:spPr>
        <p:txBody>
          <a:bodyPr wrap="square" rtlCol="0">
            <a:spAutoFit/>
          </a:bodyPr>
          <a:lstStyle/>
          <a:p>
            <a:endParaRPr lang="en-US" dirty="0">
              <a:latin typeface="Arial Black" panose="020B0A04020102020204" pitchFamily="34" charset="0"/>
            </a:endParaRPr>
          </a:p>
          <a:p>
            <a:r>
              <a:rPr lang="en-US" sz="2000" dirty="0">
                <a:latin typeface="Arial Black" panose="020B0A04020102020204" pitchFamily="34" charset="0"/>
              </a:rPr>
              <a:t>EDGE DETECTION </a:t>
            </a:r>
            <a:r>
              <a:rPr lang="en-US" dirty="0">
                <a:latin typeface="Arial Black" panose="020B0A04020102020204" pitchFamily="34" charset="0"/>
              </a:rPr>
              <a:t>:</a:t>
            </a:r>
          </a:p>
          <a:p>
            <a:pPr>
              <a:buClr>
                <a:schemeClr val="accent1"/>
              </a:buClr>
            </a:pPr>
            <a:r>
              <a:rPr lang="en-US" dirty="0">
                <a:latin typeface="Arial Black" panose="020B0A04020102020204" pitchFamily="34" charset="0"/>
              </a:rPr>
              <a:t>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Canny edge detection is a technique to extract useful structural information from different visions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quality of edge detection is heavily influenced by factors like as lighting , the presence of objects with similar intensities . </a:t>
            </a:r>
          </a:p>
          <a:p>
            <a:r>
              <a:rPr lang="en-US" dirty="0">
                <a:latin typeface="Arial Black" panose="020B0A04020102020204" pitchFamily="34" charset="0"/>
              </a:rPr>
              <a:t>  </a:t>
            </a:r>
            <a:endParaRPr lang="en-IN" dirty="0"/>
          </a:p>
        </p:txBody>
      </p:sp>
      <p:pic>
        <p:nvPicPr>
          <p:cNvPr id="6" name="Picture 5">
            <a:extLst>
              <a:ext uri="{FF2B5EF4-FFF2-40B4-BE49-F238E27FC236}">
                <a16:creationId xmlns:a16="http://schemas.microsoft.com/office/drawing/2014/main" id="{ADFF6A99-C896-BD53-D09B-45DE0E76C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950" y="1985485"/>
            <a:ext cx="10401300" cy="1477328"/>
          </a:xfrm>
          <a:prstGeom prst="rect">
            <a:avLst/>
          </a:prstGeom>
        </p:spPr>
      </p:pic>
      <p:sp>
        <p:nvSpPr>
          <p:cNvPr id="8" name="TextBox 7">
            <a:extLst>
              <a:ext uri="{FF2B5EF4-FFF2-40B4-BE49-F238E27FC236}">
                <a16:creationId xmlns:a16="http://schemas.microsoft.com/office/drawing/2014/main" id="{77FF70AC-D46D-3794-F5E1-FA4A71DAADA3}"/>
              </a:ext>
            </a:extLst>
          </p:cNvPr>
          <p:cNvSpPr txBox="1"/>
          <p:nvPr/>
        </p:nvSpPr>
        <p:spPr>
          <a:xfrm>
            <a:off x="1123950" y="3709034"/>
            <a:ext cx="10401300" cy="1384995"/>
          </a:xfrm>
          <a:prstGeom prst="rect">
            <a:avLst/>
          </a:prstGeom>
          <a:noFill/>
        </p:spPr>
        <p:txBody>
          <a:bodyPr wrap="square">
            <a:spAutoFit/>
          </a:bodyPr>
          <a:lstStyle/>
          <a:p>
            <a:r>
              <a:rPr lang="en-US" sz="2400" dirty="0">
                <a:latin typeface="Arial Black" panose="020B0A04020102020204" pitchFamily="34" charset="0"/>
              </a:rPr>
              <a:t>FEATURE EXTRACTION :</a:t>
            </a:r>
          </a:p>
          <a:p>
            <a:endParaRPr lang="en-US" sz="2400" dirty="0">
              <a:latin typeface="Arial Black" panose="020B0A04020102020204" pitchFamily="34" charset="0"/>
            </a:endParaRPr>
          </a:p>
          <a:p>
            <a:pPr marL="342900" indent="-342900">
              <a:buClr>
                <a:schemeClr val="accent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 many different applicants for image processing, the most important stage is feature extraction </a:t>
            </a:r>
          </a:p>
          <a:p>
            <a:pPr marL="342900" indent="-342900">
              <a:buClr>
                <a:schemeClr val="accent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Shows the extracted features for two images with distance =1 and angle =90 degrees .</a:t>
            </a:r>
            <a:endParaRPr lang="en-IN"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43508563-D1F8-8C95-3333-292CC2BAE0EB}"/>
              </a:ext>
            </a:extLst>
          </p:cNvPr>
          <p:cNvGraphicFramePr>
            <a:graphicFrameLocks noGrp="1"/>
          </p:cNvGraphicFramePr>
          <p:nvPr>
            <p:extLst>
              <p:ext uri="{D42A27DB-BD31-4B8C-83A1-F6EECF244321}">
                <p14:modId xmlns:p14="http://schemas.microsoft.com/office/powerpoint/2010/main" val="357082728"/>
              </p:ext>
            </p:extLst>
          </p:nvPr>
        </p:nvGraphicFramePr>
        <p:xfrm>
          <a:off x="1123950" y="5483544"/>
          <a:ext cx="10401300" cy="1381760"/>
        </p:xfrm>
        <a:graphic>
          <a:graphicData uri="http://schemas.openxmlformats.org/drawingml/2006/table">
            <a:tbl>
              <a:tblPr firstRow="1" bandRow="1">
                <a:tableStyleId>{073A0DAA-6AF3-43AB-8588-CEC1D06C72B9}</a:tableStyleId>
              </a:tblPr>
              <a:tblGrid>
                <a:gridCol w="1733550">
                  <a:extLst>
                    <a:ext uri="{9D8B030D-6E8A-4147-A177-3AD203B41FA5}">
                      <a16:colId xmlns:a16="http://schemas.microsoft.com/office/drawing/2014/main" val="4184662821"/>
                    </a:ext>
                  </a:extLst>
                </a:gridCol>
                <a:gridCol w="1733550">
                  <a:extLst>
                    <a:ext uri="{9D8B030D-6E8A-4147-A177-3AD203B41FA5}">
                      <a16:colId xmlns:a16="http://schemas.microsoft.com/office/drawing/2014/main" val="3538826260"/>
                    </a:ext>
                  </a:extLst>
                </a:gridCol>
                <a:gridCol w="1733550">
                  <a:extLst>
                    <a:ext uri="{9D8B030D-6E8A-4147-A177-3AD203B41FA5}">
                      <a16:colId xmlns:a16="http://schemas.microsoft.com/office/drawing/2014/main" val="3376208531"/>
                    </a:ext>
                  </a:extLst>
                </a:gridCol>
                <a:gridCol w="1733550">
                  <a:extLst>
                    <a:ext uri="{9D8B030D-6E8A-4147-A177-3AD203B41FA5}">
                      <a16:colId xmlns:a16="http://schemas.microsoft.com/office/drawing/2014/main" val="180452939"/>
                    </a:ext>
                  </a:extLst>
                </a:gridCol>
                <a:gridCol w="1733550">
                  <a:extLst>
                    <a:ext uri="{9D8B030D-6E8A-4147-A177-3AD203B41FA5}">
                      <a16:colId xmlns:a16="http://schemas.microsoft.com/office/drawing/2014/main" val="528152033"/>
                    </a:ext>
                  </a:extLst>
                </a:gridCol>
                <a:gridCol w="1733550">
                  <a:extLst>
                    <a:ext uri="{9D8B030D-6E8A-4147-A177-3AD203B41FA5}">
                      <a16:colId xmlns:a16="http://schemas.microsoft.com/office/drawing/2014/main" val="4089182863"/>
                    </a:ext>
                  </a:extLst>
                </a:gridCol>
              </a:tblGrid>
              <a:tr h="370840">
                <a:tc>
                  <a:txBody>
                    <a:bodyPr/>
                    <a:lstStyle/>
                    <a:p>
                      <a:pPr algn="ctr"/>
                      <a:r>
                        <a:rPr lang="en-US" dirty="0"/>
                        <a:t>IMAGE </a:t>
                      </a:r>
                      <a:endParaRPr lang="en-IN" dirty="0"/>
                    </a:p>
                  </a:txBody>
                  <a:tcPr/>
                </a:tc>
                <a:tc>
                  <a:txBody>
                    <a:bodyPr/>
                    <a:lstStyle/>
                    <a:p>
                      <a:pPr algn="ctr"/>
                      <a:r>
                        <a:rPr lang="en-US" dirty="0"/>
                        <a:t>ENERGY</a:t>
                      </a:r>
                      <a:endParaRPr lang="en-IN" dirty="0"/>
                    </a:p>
                  </a:txBody>
                  <a:tcPr/>
                </a:tc>
                <a:tc>
                  <a:txBody>
                    <a:bodyPr/>
                    <a:lstStyle/>
                    <a:p>
                      <a:pPr algn="ctr"/>
                      <a:r>
                        <a:rPr lang="en-US" dirty="0"/>
                        <a:t>CORRELATION</a:t>
                      </a:r>
                      <a:endParaRPr lang="en-IN" dirty="0"/>
                    </a:p>
                  </a:txBody>
                  <a:tcPr/>
                </a:tc>
                <a:tc>
                  <a:txBody>
                    <a:bodyPr/>
                    <a:lstStyle/>
                    <a:p>
                      <a:pPr algn="ctr"/>
                      <a:r>
                        <a:rPr lang="en-US" dirty="0"/>
                        <a:t>DISSIMILARITY</a:t>
                      </a:r>
                      <a:endParaRPr lang="en-IN" dirty="0"/>
                    </a:p>
                  </a:txBody>
                  <a:tcPr/>
                </a:tc>
                <a:tc>
                  <a:txBody>
                    <a:bodyPr/>
                    <a:lstStyle/>
                    <a:p>
                      <a:pPr algn="ctr"/>
                      <a:r>
                        <a:rPr lang="en-US" dirty="0"/>
                        <a:t>HOMOGENEITY</a:t>
                      </a:r>
                      <a:endParaRPr lang="en-IN" dirty="0"/>
                    </a:p>
                  </a:txBody>
                  <a:tcPr/>
                </a:tc>
                <a:tc>
                  <a:txBody>
                    <a:bodyPr/>
                    <a:lstStyle/>
                    <a:p>
                      <a:pPr algn="ctr"/>
                      <a:r>
                        <a:rPr lang="en-US" dirty="0"/>
                        <a:t>CONTRAST</a:t>
                      </a:r>
                      <a:endParaRPr lang="en-IN" dirty="0"/>
                    </a:p>
                  </a:txBody>
                  <a:tcPr/>
                </a:tc>
                <a:extLst>
                  <a:ext uri="{0D108BD9-81ED-4DB2-BD59-A6C34878D82A}">
                    <a16:rowId xmlns:a16="http://schemas.microsoft.com/office/drawing/2014/main" val="497978543"/>
                  </a:ext>
                </a:extLst>
              </a:tr>
              <a:tr h="370840">
                <a:tc>
                  <a:txBody>
                    <a:bodyPr/>
                    <a:lstStyle/>
                    <a:p>
                      <a:pPr algn="ctr"/>
                      <a:r>
                        <a:rPr lang="en-US" dirty="0"/>
                        <a:t>1.</a:t>
                      </a:r>
                      <a:endParaRPr lang="en-IN" dirty="0"/>
                    </a:p>
                  </a:txBody>
                  <a:tcPr/>
                </a:tc>
                <a:tc>
                  <a:txBody>
                    <a:bodyPr/>
                    <a:lstStyle/>
                    <a:p>
                      <a:r>
                        <a:rPr lang="en-US" dirty="0"/>
                        <a:t>0.2084321</a:t>
                      </a:r>
                      <a:endParaRPr lang="en-IN" dirty="0"/>
                    </a:p>
                  </a:txBody>
                  <a:tcPr/>
                </a:tc>
                <a:tc>
                  <a:txBody>
                    <a:bodyPr/>
                    <a:lstStyle/>
                    <a:p>
                      <a:r>
                        <a:rPr lang="en-US" dirty="0"/>
                        <a:t>0.99656732</a:t>
                      </a:r>
                      <a:endParaRPr lang="en-IN" dirty="0"/>
                    </a:p>
                  </a:txBody>
                  <a:tcPr/>
                </a:tc>
                <a:tc>
                  <a:txBody>
                    <a:bodyPr/>
                    <a:lstStyle/>
                    <a:p>
                      <a:r>
                        <a:rPr lang="en-US" dirty="0"/>
                        <a:t>2.91498663</a:t>
                      </a:r>
                      <a:endParaRPr lang="en-IN" dirty="0"/>
                    </a:p>
                  </a:txBody>
                  <a:tcPr/>
                </a:tc>
                <a:tc>
                  <a:txBody>
                    <a:bodyPr/>
                    <a:lstStyle/>
                    <a:p>
                      <a:r>
                        <a:rPr lang="en-US" dirty="0"/>
                        <a:t>0.4241376</a:t>
                      </a:r>
                      <a:endParaRPr lang="en-IN" dirty="0"/>
                    </a:p>
                  </a:txBody>
                  <a:tcPr/>
                </a:tc>
                <a:tc>
                  <a:txBody>
                    <a:bodyPr/>
                    <a:lstStyle/>
                    <a:p>
                      <a:r>
                        <a:rPr lang="en-US" dirty="0"/>
                        <a:t>21.55482951</a:t>
                      </a:r>
                      <a:endParaRPr lang="en-IN" dirty="0"/>
                    </a:p>
                  </a:txBody>
                  <a:tcPr/>
                </a:tc>
                <a:extLst>
                  <a:ext uri="{0D108BD9-81ED-4DB2-BD59-A6C34878D82A}">
                    <a16:rowId xmlns:a16="http://schemas.microsoft.com/office/drawing/2014/main" val="1795682855"/>
                  </a:ext>
                </a:extLst>
              </a:tr>
              <a:tr h="370840">
                <a:tc>
                  <a:txBody>
                    <a:bodyPr/>
                    <a:lstStyle/>
                    <a:p>
                      <a:pPr algn="ctr"/>
                      <a:r>
                        <a:rPr lang="en-US" dirty="0"/>
                        <a:t>2.</a:t>
                      </a:r>
                      <a:endParaRPr lang="en-IN" dirty="0"/>
                    </a:p>
                  </a:txBody>
                  <a:tcPr/>
                </a:tc>
                <a:tc>
                  <a:txBody>
                    <a:bodyPr/>
                    <a:lstStyle/>
                    <a:p>
                      <a:r>
                        <a:rPr lang="en-US" dirty="0"/>
                        <a:t>0.0776263</a:t>
                      </a:r>
                      <a:endParaRPr lang="en-IN" dirty="0"/>
                    </a:p>
                  </a:txBody>
                  <a:tcPr/>
                </a:tc>
                <a:tc>
                  <a:txBody>
                    <a:bodyPr/>
                    <a:lstStyle/>
                    <a:p>
                      <a:r>
                        <a:rPr lang="en-US" dirty="0"/>
                        <a:t>0.99842039</a:t>
                      </a:r>
                      <a:endParaRPr lang="en-IN" dirty="0"/>
                    </a:p>
                  </a:txBody>
                  <a:tcPr/>
                </a:tc>
                <a:tc>
                  <a:txBody>
                    <a:bodyPr/>
                    <a:lstStyle/>
                    <a:p>
                      <a:r>
                        <a:rPr lang="en-US" dirty="0"/>
                        <a:t>1.53495146</a:t>
                      </a:r>
                      <a:endParaRPr lang="en-IN" dirty="0"/>
                    </a:p>
                  </a:txBody>
                  <a:tcPr/>
                </a:tc>
                <a:tc>
                  <a:txBody>
                    <a:bodyPr/>
                    <a:lstStyle/>
                    <a:p>
                      <a:r>
                        <a:rPr lang="en-US" dirty="0"/>
                        <a:t>0.56196655</a:t>
                      </a:r>
                      <a:endParaRPr lang="en-IN" dirty="0"/>
                    </a:p>
                  </a:txBody>
                  <a:tcPr/>
                </a:tc>
                <a:tc>
                  <a:txBody>
                    <a:bodyPr/>
                    <a:lstStyle/>
                    <a:p>
                      <a:r>
                        <a:rPr lang="en-US" dirty="0"/>
                        <a:t>7.74761016</a:t>
                      </a:r>
                      <a:endParaRPr lang="en-IN" dirty="0"/>
                    </a:p>
                  </a:txBody>
                  <a:tcPr/>
                </a:tc>
                <a:extLst>
                  <a:ext uri="{0D108BD9-81ED-4DB2-BD59-A6C34878D82A}">
                    <a16:rowId xmlns:a16="http://schemas.microsoft.com/office/drawing/2014/main" val="3888744127"/>
                  </a:ext>
                </a:extLst>
              </a:tr>
            </a:tbl>
          </a:graphicData>
        </a:graphic>
      </p:graphicFrame>
      <p:pic>
        <p:nvPicPr>
          <p:cNvPr id="3" name="Picture 2">
            <a:extLst>
              <a:ext uri="{FF2B5EF4-FFF2-40B4-BE49-F238E27FC236}">
                <a16:creationId xmlns:a16="http://schemas.microsoft.com/office/drawing/2014/main" id="{03DDF004-AF33-424B-E3AE-FC43217D10A9}"/>
              </a:ext>
            </a:extLst>
          </p:cNvPr>
          <p:cNvPicPr/>
          <p:nvPr/>
        </p:nvPicPr>
        <p:blipFill>
          <a:blip r:embed="rId3"/>
          <a:stretch>
            <a:fillRect/>
          </a:stretch>
        </p:blipFill>
        <p:spPr>
          <a:xfrm>
            <a:off x="10969308" y="0"/>
            <a:ext cx="1209992" cy="1051878"/>
          </a:xfrm>
          <a:prstGeom prst="rect">
            <a:avLst/>
          </a:prstGeom>
        </p:spPr>
      </p:pic>
    </p:spTree>
    <p:extLst>
      <p:ext uri="{BB962C8B-B14F-4D97-AF65-F5344CB8AC3E}">
        <p14:creationId xmlns:p14="http://schemas.microsoft.com/office/powerpoint/2010/main" val="1612863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3A661-26EE-46F9-4761-83ECD0E8D055}"/>
              </a:ext>
            </a:extLst>
          </p:cNvPr>
          <p:cNvSpPr>
            <a:spLocks noGrp="1"/>
          </p:cNvSpPr>
          <p:nvPr>
            <p:ph type="title"/>
          </p:nvPr>
        </p:nvSpPr>
        <p:spPr>
          <a:xfrm>
            <a:off x="657225" y="255587"/>
            <a:ext cx="10515600" cy="1325563"/>
          </a:xfrm>
        </p:spPr>
        <p:txBody>
          <a:bodyPr/>
          <a:lstStyle/>
          <a:p>
            <a:pPr algn="ctr"/>
            <a:r>
              <a:rPr lang="en-US" dirty="0">
                <a:solidFill>
                  <a:schemeClr val="tx1"/>
                </a:solidFill>
                <a:latin typeface="Arial Black" panose="020B0A04020102020204" pitchFamily="34" charset="0"/>
              </a:rPr>
              <a:t>UML DIAGRAMS</a:t>
            </a:r>
            <a:endParaRPr lang="en-IN" dirty="0">
              <a:solidFill>
                <a:schemeClr val="tx1"/>
              </a:solidFill>
              <a:latin typeface="Arial Black" panose="020B0A04020102020204" pitchFamily="34" charset="0"/>
            </a:endParaRPr>
          </a:p>
        </p:txBody>
      </p:sp>
      <p:pic>
        <p:nvPicPr>
          <p:cNvPr id="9" name="Content Placeholder 8">
            <a:extLst>
              <a:ext uri="{FF2B5EF4-FFF2-40B4-BE49-F238E27FC236}">
                <a16:creationId xmlns:a16="http://schemas.microsoft.com/office/drawing/2014/main" id="{A3A03868-2CE8-830A-8726-9F9F3BBB64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8924" y="1827213"/>
            <a:ext cx="8472440" cy="3881437"/>
          </a:xfrm>
        </p:spPr>
      </p:pic>
      <p:pic>
        <p:nvPicPr>
          <p:cNvPr id="3" name="Picture 2">
            <a:extLst>
              <a:ext uri="{FF2B5EF4-FFF2-40B4-BE49-F238E27FC236}">
                <a16:creationId xmlns:a16="http://schemas.microsoft.com/office/drawing/2014/main" id="{3BA5B267-B1BF-254C-2E30-C06FC983A144}"/>
              </a:ext>
            </a:extLst>
          </p:cNvPr>
          <p:cNvPicPr/>
          <p:nvPr/>
        </p:nvPicPr>
        <p:blipFill>
          <a:blip r:embed="rId3"/>
          <a:stretch>
            <a:fillRect/>
          </a:stretch>
        </p:blipFill>
        <p:spPr>
          <a:xfrm>
            <a:off x="10998200" y="0"/>
            <a:ext cx="1193800" cy="1026478"/>
          </a:xfrm>
          <a:prstGeom prst="rect">
            <a:avLst/>
          </a:prstGeom>
        </p:spPr>
      </p:pic>
    </p:spTree>
    <p:extLst>
      <p:ext uri="{BB962C8B-B14F-4D97-AF65-F5344CB8AC3E}">
        <p14:creationId xmlns:p14="http://schemas.microsoft.com/office/powerpoint/2010/main" val="40710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F17974-0790-F237-2BAC-02BCCF545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0131" y="0"/>
            <a:ext cx="6440370" cy="6858000"/>
          </a:xfrm>
          <a:prstGeom prst="rect">
            <a:avLst/>
          </a:prstGeom>
        </p:spPr>
      </p:pic>
      <p:sp>
        <p:nvSpPr>
          <p:cNvPr id="4" name="TextBox 3">
            <a:extLst>
              <a:ext uri="{FF2B5EF4-FFF2-40B4-BE49-F238E27FC236}">
                <a16:creationId xmlns:a16="http://schemas.microsoft.com/office/drawing/2014/main" id="{0ACBED66-216F-35DE-7465-BD615294F3B9}"/>
              </a:ext>
            </a:extLst>
          </p:cNvPr>
          <p:cNvSpPr txBox="1"/>
          <p:nvPr/>
        </p:nvSpPr>
        <p:spPr>
          <a:xfrm>
            <a:off x="571500" y="571266"/>
            <a:ext cx="3505200" cy="461665"/>
          </a:xfrm>
          <a:prstGeom prst="rect">
            <a:avLst/>
          </a:prstGeom>
          <a:noFill/>
        </p:spPr>
        <p:txBody>
          <a:bodyPr wrap="square" rtlCol="0">
            <a:spAutoFit/>
          </a:bodyPr>
          <a:lstStyle/>
          <a:p>
            <a:r>
              <a:rPr lang="en-US" sz="2400" dirty="0">
                <a:latin typeface="Arial Black" panose="020B0A04020102020204" pitchFamily="34" charset="0"/>
              </a:rPr>
              <a:t>Use case diagram </a:t>
            </a:r>
            <a:r>
              <a:rPr lang="en-US" dirty="0">
                <a:latin typeface="Arial Black" panose="020B0A04020102020204" pitchFamily="34" charset="0"/>
              </a:rPr>
              <a:t>: </a:t>
            </a:r>
            <a:endParaRPr lang="en-IN" dirty="0">
              <a:latin typeface="Arial Black" panose="020B0A04020102020204" pitchFamily="34" charset="0"/>
            </a:endParaRPr>
          </a:p>
        </p:txBody>
      </p:sp>
      <p:pic>
        <p:nvPicPr>
          <p:cNvPr id="2" name="Picture 1">
            <a:extLst>
              <a:ext uri="{FF2B5EF4-FFF2-40B4-BE49-F238E27FC236}">
                <a16:creationId xmlns:a16="http://schemas.microsoft.com/office/drawing/2014/main" id="{6AD24EA8-1573-9C74-AE33-A82F21C24986}"/>
              </a:ext>
            </a:extLst>
          </p:cNvPr>
          <p:cNvPicPr/>
          <p:nvPr/>
        </p:nvPicPr>
        <p:blipFill>
          <a:blip r:embed="rId3"/>
          <a:stretch>
            <a:fillRect/>
          </a:stretch>
        </p:blipFill>
        <p:spPr>
          <a:xfrm>
            <a:off x="11045508" y="0"/>
            <a:ext cx="1146492" cy="1077278"/>
          </a:xfrm>
          <a:prstGeom prst="rect">
            <a:avLst/>
          </a:prstGeom>
        </p:spPr>
      </p:pic>
    </p:spTree>
    <p:extLst>
      <p:ext uri="{BB962C8B-B14F-4D97-AF65-F5344CB8AC3E}">
        <p14:creationId xmlns:p14="http://schemas.microsoft.com/office/powerpoint/2010/main" val="4199614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652DE2-0C3C-154E-6D05-F1FACC718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4125" y="1260379"/>
            <a:ext cx="6915150" cy="5388071"/>
          </a:xfrm>
          <a:prstGeom prst="rect">
            <a:avLst/>
          </a:prstGeom>
        </p:spPr>
      </p:pic>
      <p:sp>
        <p:nvSpPr>
          <p:cNvPr id="6" name="TextBox 5">
            <a:extLst>
              <a:ext uri="{FF2B5EF4-FFF2-40B4-BE49-F238E27FC236}">
                <a16:creationId xmlns:a16="http://schemas.microsoft.com/office/drawing/2014/main" id="{0795C889-C390-38D3-A9DE-A63F000AFC7B}"/>
              </a:ext>
            </a:extLst>
          </p:cNvPr>
          <p:cNvSpPr txBox="1"/>
          <p:nvPr/>
        </p:nvSpPr>
        <p:spPr>
          <a:xfrm>
            <a:off x="1895475" y="276225"/>
            <a:ext cx="8172450" cy="769441"/>
          </a:xfrm>
          <a:prstGeom prst="rect">
            <a:avLst/>
          </a:prstGeom>
          <a:noFill/>
        </p:spPr>
        <p:txBody>
          <a:bodyPr wrap="square" rtlCol="0">
            <a:spAutoFit/>
          </a:bodyPr>
          <a:lstStyle/>
          <a:p>
            <a:pPr algn="ctr"/>
            <a:r>
              <a:rPr lang="en-US" sz="4400" dirty="0">
                <a:latin typeface="Arial Black" panose="020B0A04020102020204" pitchFamily="34" charset="0"/>
              </a:rPr>
              <a:t>OUTPUT SCREENS</a:t>
            </a:r>
            <a:endParaRPr lang="en-IN" sz="4400" dirty="0">
              <a:latin typeface="Arial Black" panose="020B0A04020102020204" pitchFamily="34" charset="0"/>
            </a:endParaRPr>
          </a:p>
        </p:txBody>
      </p:sp>
      <p:pic>
        <p:nvPicPr>
          <p:cNvPr id="2" name="Picture 1">
            <a:extLst>
              <a:ext uri="{FF2B5EF4-FFF2-40B4-BE49-F238E27FC236}">
                <a16:creationId xmlns:a16="http://schemas.microsoft.com/office/drawing/2014/main" id="{EF5B20D0-D4A4-67F8-D5A0-3DC2AB1357D1}"/>
              </a:ext>
            </a:extLst>
          </p:cNvPr>
          <p:cNvPicPr/>
          <p:nvPr/>
        </p:nvPicPr>
        <p:blipFill>
          <a:blip r:embed="rId3"/>
          <a:stretch>
            <a:fillRect/>
          </a:stretch>
        </p:blipFill>
        <p:spPr>
          <a:xfrm>
            <a:off x="11058208" y="0"/>
            <a:ext cx="1133792" cy="1102678"/>
          </a:xfrm>
          <a:prstGeom prst="rect">
            <a:avLst/>
          </a:prstGeom>
        </p:spPr>
      </p:pic>
    </p:spTree>
    <p:extLst>
      <p:ext uri="{BB962C8B-B14F-4D97-AF65-F5344CB8AC3E}">
        <p14:creationId xmlns:p14="http://schemas.microsoft.com/office/powerpoint/2010/main" val="3524824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4754D-7246-DE81-D679-E52B6D506BFC}"/>
              </a:ext>
            </a:extLst>
          </p:cNvPr>
          <p:cNvSpPr>
            <a:spLocks noGrp="1"/>
          </p:cNvSpPr>
          <p:nvPr>
            <p:ph type="title"/>
          </p:nvPr>
        </p:nvSpPr>
        <p:spPr/>
        <p:txBody>
          <a:bodyPr/>
          <a:lstStyle/>
          <a:p>
            <a:pPr algn="ctr"/>
            <a:r>
              <a:rPr lang="en-US" dirty="0">
                <a:solidFill>
                  <a:schemeClr val="tx1"/>
                </a:solidFill>
                <a:latin typeface="Arial Black" panose="020B0A04020102020204" pitchFamily="34" charset="0"/>
              </a:rPr>
              <a:t>TESTING</a:t>
            </a:r>
            <a:r>
              <a:rPr lang="en-US" dirty="0">
                <a:latin typeface="Arial Black" panose="020B0A04020102020204" pitchFamily="34" charset="0"/>
              </a:rPr>
              <a:t> </a:t>
            </a:r>
            <a:endParaRPr lang="en-IN"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D4FD072F-19F6-8127-0A30-1949410D22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81775" y="1828801"/>
            <a:ext cx="4947765" cy="3881437"/>
          </a:xfrm>
        </p:spPr>
      </p:pic>
      <p:sp>
        <p:nvSpPr>
          <p:cNvPr id="6" name="TextBox 5">
            <a:extLst>
              <a:ext uri="{FF2B5EF4-FFF2-40B4-BE49-F238E27FC236}">
                <a16:creationId xmlns:a16="http://schemas.microsoft.com/office/drawing/2014/main" id="{2D723D9E-4957-D890-31C2-697E20DD4387}"/>
              </a:ext>
            </a:extLst>
          </p:cNvPr>
          <p:cNvSpPr txBox="1"/>
          <p:nvPr/>
        </p:nvSpPr>
        <p:spPr>
          <a:xfrm>
            <a:off x="523875" y="1828801"/>
            <a:ext cx="6057900" cy="3539430"/>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sz="1600" dirty="0">
                <a:latin typeface="Arial" panose="020B0604020202020204" pitchFamily="34" charset="0"/>
                <a:cs typeface="Arial" panose="020B0604020202020204" pitchFamily="34" charset="0"/>
              </a:rPr>
              <a:t> </a:t>
            </a:r>
            <a:r>
              <a:rPr lang="en-US" sz="1600" dirty="0">
                <a:latin typeface="Times New Roman" panose="02020603050405020304" pitchFamily="18" charset="0"/>
                <a:cs typeface="Times New Roman" panose="02020603050405020304" pitchFamily="18" charset="0"/>
              </a:rPr>
              <a:t>X- rays usually confirm whether a person has a broken bone and where any loose bony pieces may be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FRAX tool :</a:t>
            </a:r>
          </a:p>
          <a:p>
            <a:pPr>
              <a:buClr>
                <a:schemeClr val="accent1"/>
              </a:buClr>
            </a:pPr>
            <a:r>
              <a:rPr lang="en-US" sz="1600" dirty="0">
                <a:latin typeface="Times New Roman" panose="02020603050405020304" pitchFamily="18" charset="0"/>
                <a:cs typeface="Times New Roman" panose="02020603050405020304" pitchFamily="18" charset="0"/>
              </a:rPr>
              <a:t>           The FRAX tool has been developed to predict the risk of a fracture .</a:t>
            </a:r>
          </a:p>
          <a:p>
            <a:pPr marL="285750" indent="-285750">
              <a:buClr>
                <a:schemeClr val="accent1"/>
              </a:buCl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The tool combines your individual risk factors for  fractures and your bone density scores .</a:t>
            </a:r>
          </a:p>
          <a:p>
            <a:pPr marL="285750" indent="-285750">
              <a:buClr>
                <a:schemeClr val="accent1"/>
              </a:buCl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If the x –ray does not show a fracture but your   healthcare provider still thinks you might have one, other imaging tests may be necessary such as :</a:t>
            </a:r>
          </a:p>
          <a:p>
            <a:pPr marL="400050" indent="-400050">
              <a:buClr>
                <a:schemeClr val="accent1"/>
              </a:buClr>
              <a:buFont typeface="+mj-lt"/>
              <a:buAutoNum type="romanLcPeriod"/>
            </a:pPr>
            <a:r>
              <a:rPr lang="en-US" sz="1600" dirty="0">
                <a:latin typeface="Times New Roman" panose="02020603050405020304" pitchFamily="18" charset="0"/>
                <a:cs typeface="Times New Roman" panose="02020603050405020304" pitchFamily="18" charset="0"/>
              </a:rPr>
              <a:t>    Magnetic resonance imaging (MRI)</a:t>
            </a:r>
          </a:p>
          <a:p>
            <a:pPr marL="400050" indent="-400050">
              <a:buClr>
                <a:schemeClr val="accent1"/>
              </a:buClr>
              <a:buFont typeface="+mj-lt"/>
              <a:buAutoNum type="romanLcPeriod"/>
            </a:pPr>
            <a:r>
              <a:rPr lang="en-US" sz="1600" dirty="0">
                <a:latin typeface="Times New Roman" panose="02020603050405020304" pitchFamily="18" charset="0"/>
                <a:cs typeface="Times New Roman" panose="02020603050405020304" pitchFamily="18" charset="0"/>
              </a:rPr>
              <a:t>    Computed tomography (CT) scan</a:t>
            </a:r>
          </a:p>
        </p:txBody>
      </p:sp>
      <p:pic>
        <p:nvPicPr>
          <p:cNvPr id="3" name="Picture 2">
            <a:extLst>
              <a:ext uri="{FF2B5EF4-FFF2-40B4-BE49-F238E27FC236}">
                <a16:creationId xmlns:a16="http://schemas.microsoft.com/office/drawing/2014/main" id="{D42816EC-48F7-48E5-B63D-8BEB4198A09D}"/>
              </a:ext>
            </a:extLst>
          </p:cNvPr>
          <p:cNvPicPr/>
          <p:nvPr/>
        </p:nvPicPr>
        <p:blipFill>
          <a:blip r:embed="rId3"/>
          <a:stretch>
            <a:fillRect/>
          </a:stretch>
        </p:blipFill>
        <p:spPr>
          <a:xfrm>
            <a:off x="10991215" y="0"/>
            <a:ext cx="1200785" cy="1026478"/>
          </a:xfrm>
          <a:prstGeom prst="rect">
            <a:avLst/>
          </a:prstGeom>
        </p:spPr>
      </p:pic>
    </p:spTree>
    <p:extLst>
      <p:ext uri="{BB962C8B-B14F-4D97-AF65-F5344CB8AC3E}">
        <p14:creationId xmlns:p14="http://schemas.microsoft.com/office/powerpoint/2010/main" val="764779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AE3B-ADED-F228-F11B-B0D524A0D26D}"/>
              </a:ext>
            </a:extLst>
          </p:cNvPr>
          <p:cNvSpPr>
            <a:spLocks noGrp="1"/>
          </p:cNvSpPr>
          <p:nvPr>
            <p:ph type="title"/>
          </p:nvPr>
        </p:nvSpPr>
        <p:spPr>
          <a:xfrm>
            <a:off x="552450" y="219075"/>
            <a:ext cx="10515600" cy="1325563"/>
          </a:xfrm>
        </p:spPr>
        <p:txBody>
          <a:bodyPr/>
          <a:lstStyle/>
          <a:p>
            <a:pPr algn="ctr"/>
            <a:r>
              <a:rPr lang="en-US" dirty="0">
                <a:solidFill>
                  <a:schemeClr val="tx1"/>
                </a:solidFill>
                <a:latin typeface="Arial Black" panose="020B0A04020102020204" pitchFamily="34" charset="0"/>
              </a:rPr>
              <a:t>CONCLUSION</a:t>
            </a:r>
            <a:endParaRPr lang="en-IN" dirty="0">
              <a:solidFill>
                <a:schemeClr val="tx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E7AF9D7C-FAE7-4073-2C57-F5C4D39A91B4}"/>
              </a:ext>
            </a:extLst>
          </p:cNvPr>
          <p:cNvSpPr>
            <a:spLocks noGrp="1"/>
          </p:cNvSpPr>
          <p:nvPr>
            <p:ph idx="1"/>
          </p:nvPr>
        </p:nvSpPr>
        <p:spPr>
          <a:xfrm>
            <a:off x="752475" y="1036637"/>
            <a:ext cx="10115550" cy="3878263"/>
          </a:xfrm>
        </p:spPr>
        <p:txBody>
          <a:bodyPr>
            <a:noAutofit/>
          </a:bodyPr>
          <a:lstStyle/>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With the use of data that this project acquired, to investigated bone fractures using the Convolutional Neural Network technique in this research.  Algorithm  successfully determines which scans are fragmented and which are not.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Model is accurate to the tune of 70 to 87 per cent.</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In this ppt bone fracture detection and classifications system using binary classification technique has been developed.</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The X-ray image  of the human fracture bone and the healthy bone were used to perform the experiment.</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The images are been original which are collected from the different sources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Finally they are 8873 images of bone data set and the are divided into 2 categories :</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 fractured and </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Not fractured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The  data set is  divides into two </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Training set and </a:t>
            </a:r>
          </a:p>
          <a:p>
            <a:pPr marL="400050" indent="-400050">
              <a:buFont typeface="+mj-lt"/>
              <a:buAutoNum type="romanLcPeriod"/>
            </a:pPr>
            <a:r>
              <a:rPr lang="en-US" sz="1600" dirty="0">
                <a:latin typeface="Times New Roman" panose="02020603050405020304" pitchFamily="18" charset="0"/>
                <a:cs typeface="Times New Roman" panose="02020603050405020304" pitchFamily="18" charset="0"/>
              </a:rPr>
              <a:t>Testing set</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Training data images are 7099 and Testing data images are 1774.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The classification accuracy of the model is 92.44% for the healthy and fractured bone.</a:t>
            </a:r>
          </a:p>
        </p:txBody>
      </p:sp>
      <p:pic>
        <p:nvPicPr>
          <p:cNvPr id="4" name="Picture 3">
            <a:extLst>
              <a:ext uri="{FF2B5EF4-FFF2-40B4-BE49-F238E27FC236}">
                <a16:creationId xmlns:a16="http://schemas.microsoft.com/office/drawing/2014/main" id="{17EAD7A3-E19E-28DE-F3F1-0C628D2EADAD}"/>
              </a:ext>
            </a:extLst>
          </p:cNvPr>
          <p:cNvPicPr/>
          <p:nvPr/>
        </p:nvPicPr>
        <p:blipFill>
          <a:blip r:embed="rId2"/>
          <a:stretch>
            <a:fillRect/>
          </a:stretch>
        </p:blipFill>
        <p:spPr>
          <a:xfrm>
            <a:off x="11020108" y="0"/>
            <a:ext cx="1171892" cy="1051878"/>
          </a:xfrm>
          <a:prstGeom prst="rect">
            <a:avLst/>
          </a:prstGeom>
        </p:spPr>
      </p:pic>
    </p:spTree>
    <p:extLst>
      <p:ext uri="{BB962C8B-B14F-4D97-AF65-F5344CB8AC3E}">
        <p14:creationId xmlns:p14="http://schemas.microsoft.com/office/powerpoint/2010/main" val="1314598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5F90C-20E8-7B15-B606-961D0CD341D8}"/>
              </a:ext>
            </a:extLst>
          </p:cNvPr>
          <p:cNvSpPr txBox="1"/>
          <p:nvPr/>
        </p:nvSpPr>
        <p:spPr>
          <a:xfrm>
            <a:off x="1604962" y="542925"/>
            <a:ext cx="8982075" cy="707886"/>
          </a:xfrm>
          <a:prstGeom prst="rect">
            <a:avLst/>
          </a:prstGeom>
          <a:noFill/>
        </p:spPr>
        <p:txBody>
          <a:bodyPr wrap="square" rtlCol="0">
            <a:spAutoFit/>
          </a:bodyPr>
          <a:lstStyle/>
          <a:p>
            <a:pPr algn="ctr"/>
            <a:r>
              <a:rPr lang="en-US" sz="4000" dirty="0">
                <a:latin typeface="Arial Black" panose="020B0A04020102020204" pitchFamily="34" charset="0"/>
              </a:rPr>
              <a:t>FUTURE ENHANCEMENT </a:t>
            </a:r>
            <a:endParaRPr lang="en-IN" sz="4000" dirty="0">
              <a:latin typeface="Arial Black" panose="020B0A04020102020204" pitchFamily="34" charset="0"/>
            </a:endParaRPr>
          </a:p>
        </p:txBody>
      </p:sp>
      <p:sp>
        <p:nvSpPr>
          <p:cNvPr id="4" name="TextBox 3">
            <a:extLst>
              <a:ext uri="{FF2B5EF4-FFF2-40B4-BE49-F238E27FC236}">
                <a16:creationId xmlns:a16="http://schemas.microsoft.com/office/drawing/2014/main" id="{FD49EF97-0D1E-3906-7D24-5610F1FA82D9}"/>
              </a:ext>
            </a:extLst>
          </p:cNvPr>
          <p:cNvSpPr txBox="1"/>
          <p:nvPr/>
        </p:nvSpPr>
        <p:spPr>
          <a:xfrm>
            <a:off x="542924" y="2106920"/>
            <a:ext cx="6267450" cy="3077766"/>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dirty="0"/>
              <a:t> </a:t>
            </a:r>
            <a:r>
              <a:rPr lang="en-US" sz="1600" dirty="0">
                <a:latin typeface="Times New Roman" panose="02020603050405020304" pitchFamily="18" charset="0"/>
                <a:cs typeface="Times New Roman" panose="02020603050405020304" pitchFamily="18" charset="0"/>
              </a:rPr>
              <a:t>The project aims to develop a robust and automated system for bone fracture detection using Convolutional Neural Network (CNNs).</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Enhancing the efficiency and accuracy of fracture identification in medical imaging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Facilitating early diagnosis  and appropriate treatment interventions for better overall patient outcomes and quality of life.</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Automating the process of bone fracture detection using CNNs has the potential to enhance patient care and reduce health care costs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Reduce reliance on human expertise, leading to more consistent and accurate fracture identification in medical imaging .</a:t>
            </a:r>
          </a:p>
          <a:p>
            <a:pPr marL="285750" indent="-285750">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Alleviates  the burden on medical professionals, allowing them to focus on other critical aspects of patients care.</a:t>
            </a:r>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40FB6B4-12DD-218C-EBF1-38A16A942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4516" y="1670041"/>
            <a:ext cx="4419600" cy="4151640"/>
          </a:xfrm>
          <a:prstGeom prst="rect">
            <a:avLst/>
          </a:prstGeom>
        </p:spPr>
      </p:pic>
      <p:pic>
        <p:nvPicPr>
          <p:cNvPr id="3" name="Picture 2">
            <a:extLst>
              <a:ext uri="{FF2B5EF4-FFF2-40B4-BE49-F238E27FC236}">
                <a16:creationId xmlns:a16="http://schemas.microsoft.com/office/drawing/2014/main" id="{8737DDEA-F0FB-6274-B5DE-D0BF5588F99C}"/>
              </a:ext>
            </a:extLst>
          </p:cNvPr>
          <p:cNvPicPr/>
          <p:nvPr/>
        </p:nvPicPr>
        <p:blipFill>
          <a:blip r:embed="rId3"/>
          <a:stretch>
            <a:fillRect/>
          </a:stretch>
        </p:blipFill>
        <p:spPr>
          <a:xfrm>
            <a:off x="10991215" y="0"/>
            <a:ext cx="1200785" cy="1102678"/>
          </a:xfrm>
          <a:prstGeom prst="rect">
            <a:avLst/>
          </a:prstGeom>
        </p:spPr>
      </p:pic>
    </p:spTree>
    <p:extLst>
      <p:ext uri="{BB962C8B-B14F-4D97-AF65-F5344CB8AC3E}">
        <p14:creationId xmlns:p14="http://schemas.microsoft.com/office/powerpoint/2010/main" val="1115214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901FEA-B84C-6B7E-2697-A227085EC3F6}"/>
              </a:ext>
            </a:extLst>
          </p:cNvPr>
          <p:cNvSpPr txBox="1"/>
          <p:nvPr/>
        </p:nvSpPr>
        <p:spPr>
          <a:xfrm>
            <a:off x="809625" y="495300"/>
            <a:ext cx="10382250" cy="769441"/>
          </a:xfrm>
          <a:prstGeom prst="rect">
            <a:avLst/>
          </a:prstGeom>
          <a:noFill/>
        </p:spPr>
        <p:txBody>
          <a:bodyPr wrap="square" rtlCol="0">
            <a:spAutoFit/>
          </a:bodyPr>
          <a:lstStyle/>
          <a:p>
            <a:pPr algn="ctr"/>
            <a:r>
              <a:rPr lang="en-US" sz="4400" dirty="0">
                <a:latin typeface="Arial Black" panose="020B0A04020102020204" pitchFamily="34" charset="0"/>
              </a:rPr>
              <a:t>REFERENCES</a:t>
            </a:r>
            <a:endParaRPr lang="en-IN" sz="4400" dirty="0">
              <a:latin typeface="Arial Black" panose="020B0A04020102020204" pitchFamily="34" charset="0"/>
            </a:endParaRPr>
          </a:p>
        </p:txBody>
      </p:sp>
      <p:sp>
        <p:nvSpPr>
          <p:cNvPr id="5" name="TextBox 4">
            <a:extLst>
              <a:ext uri="{FF2B5EF4-FFF2-40B4-BE49-F238E27FC236}">
                <a16:creationId xmlns:a16="http://schemas.microsoft.com/office/drawing/2014/main" id="{07EBC70C-C3F3-00FF-5261-D9FBEA990634}"/>
              </a:ext>
            </a:extLst>
          </p:cNvPr>
          <p:cNvSpPr txBox="1"/>
          <p:nvPr/>
        </p:nvSpPr>
        <p:spPr>
          <a:xfrm>
            <a:off x="1657351" y="1743075"/>
            <a:ext cx="8753474" cy="3077766"/>
          </a:xfrm>
          <a:prstGeom prst="rect">
            <a:avLst/>
          </a:prstGeom>
          <a:noFill/>
        </p:spPr>
        <p:txBody>
          <a:bodyPr wrap="square" rtlCol="0">
            <a:spAutoFit/>
          </a:bodyPr>
          <a:lstStyle/>
          <a:p>
            <a:pPr marL="342900" indent="-342900" algn="just">
              <a:buClr>
                <a:schemeClr val="accent1"/>
              </a:buClr>
              <a:buFont typeface="Wingdings" panose="05000000000000000000" pitchFamily="2" charset="2"/>
              <a:buChar char="Ø"/>
            </a:pPr>
            <a:r>
              <a:rPr lang="en-US" sz="1600" dirty="0" err="1">
                <a:latin typeface="Times New Roman" panose="02020603050405020304" pitchFamily="18" charset="0"/>
                <a:cs typeface="Times New Roman" panose="02020603050405020304" pitchFamily="18" charset="0"/>
              </a:rPr>
              <a:t>Yangling</a:t>
            </a:r>
            <a:r>
              <a:rPr lang="en-US" sz="1600" dirty="0">
                <a:latin typeface="Times New Roman" panose="02020603050405020304" pitchFamily="18" charset="0"/>
                <a:cs typeface="Times New Roman" panose="02020603050405020304" pitchFamily="18" charset="0"/>
              </a:rPr>
              <a:t> Ma, </a:t>
            </a:r>
            <a:r>
              <a:rPr lang="en-US" sz="1600" dirty="0" err="1">
                <a:latin typeface="Times New Roman" panose="02020603050405020304" pitchFamily="18" charset="0"/>
                <a:cs typeface="Times New Roman" panose="02020603050405020304" pitchFamily="18" charset="0"/>
              </a:rPr>
              <a:t>Yixin</a:t>
            </a:r>
            <a:r>
              <a:rPr lang="en-US" sz="1600" dirty="0">
                <a:latin typeface="Times New Roman" panose="02020603050405020304" pitchFamily="18" charset="0"/>
                <a:cs typeface="Times New Roman" panose="02020603050405020304" pitchFamily="18" charset="0"/>
              </a:rPr>
              <a:t> Luo Bone Fracture Detection through the system of Convolutional Neural Network , Universities of science and technology of China, Hefei, 230026, PR China.</a:t>
            </a:r>
          </a:p>
          <a:p>
            <a:pPr marL="285750" indent="-285750" algn="just">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Anu T C, </a:t>
            </a:r>
            <a:r>
              <a:rPr lang="en-US" sz="1600" dirty="0" err="1">
                <a:latin typeface="Times New Roman" panose="02020603050405020304" pitchFamily="18" charset="0"/>
                <a:cs typeface="Times New Roman" panose="02020603050405020304" pitchFamily="18" charset="0"/>
              </a:rPr>
              <a:t>Mallikarujunaswamy</a:t>
            </a:r>
            <a:r>
              <a:rPr lang="en-US" sz="1600" dirty="0">
                <a:latin typeface="Times New Roman" panose="02020603050405020304" pitchFamily="18" charset="0"/>
                <a:cs typeface="Times New Roman" panose="02020603050405020304" pitchFamily="18" charset="0"/>
              </a:rPr>
              <a:t> M.S., Rajesh Ramana , Detection of Bone Fracture  using Image Processing Methods, Department of Instrumentation , S.J . College of Engineering, Mysuru.</a:t>
            </a:r>
          </a:p>
          <a:p>
            <a:pPr marL="285750" indent="-285750" algn="just">
              <a:buClr>
                <a:schemeClr val="accent1"/>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Wint</a:t>
            </a:r>
            <a:r>
              <a:rPr lang="en-US" sz="1600" dirty="0">
                <a:latin typeface="Times New Roman" panose="02020603050405020304" pitchFamily="18" charset="0"/>
                <a:cs typeface="Times New Roman" panose="02020603050405020304" pitchFamily="18" charset="0"/>
              </a:rPr>
              <a:t> Wah </a:t>
            </a:r>
            <a:r>
              <a:rPr lang="en-US" sz="1600" dirty="0" err="1">
                <a:latin typeface="Times New Roman" panose="02020603050405020304" pitchFamily="18" charset="0"/>
                <a:cs typeface="Times New Roman" panose="02020603050405020304" pitchFamily="18" charset="0"/>
              </a:rPr>
              <a:t>Myint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Sandar</a:t>
            </a:r>
            <a:r>
              <a:rPr lang="en-US" sz="1600" dirty="0">
                <a:latin typeface="Times New Roman" panose="02020603050405020304" pitchFamily="18" charset="0"/>
                <a:cs typeface="Times New Roman" panose="02020603050405020304" pitchFamily="18" charset="0"/>
              </a:rPr>
              <a:t> Tun, Analysis on Leg Bone Fracture Detection  and Classification   Using X-ray Images Machine learning Research Vol 3, No 3,2018,pp 49-59.</a:t>
            </a:r>
          </a:p>
          <a:p>
            <a:pPr marL="285750" indent="-285750" algn="just">
              <a:buClr>
                <a:schemeClr val="accent1"/>
              </a:buClr>
              <a:buFont typeface="Wingdings" panose="05000000000000000000" pitchFamily="2" charset="2"/>
              <a:buChar char="Ø"/>
            </a:pP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Myint</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Wint</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Wah, Tun KS, Tun HM. Analysis on leg bone fracture detection and classification using x-ray images, 2018;3(3):49- 59</a:t>
            </a:r>
          </a:p>
          <a:p>
            <a:pPr marL="285750" indent="-285750" algn="just">
              <a:buClr>
                <a:schemeClr val="accent1"/>
              </a:buClr>
              <a:buFont typeface="Wingdings" panose="05000000000000000000" pitchFamily="2" charset="2"/>
              <a:buChar char="Ø"/>
            </a:pPr>
            <a:r>
              <a:rPr lang="en-IN" sz="16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Dhiraj B,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Prawaj</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 Sumit D. A novel approach for bone fracture detection using image processing; 2018</a:t>
            </a:r>
            <a:r>
              <a:rPr lang="en-IN" sz="1800" kern="100" dirty="0">
                <a:solidFill>
                  <a:srgbClr val="000000"/>
                </a:solidFill>
                <a:effectLst/>
                <a:latin typeface="Arial" panose="020B0604020202020204" pitchFamily="34" charset="0"/>
                <a:ea typeface="Times New Roman" panose="02020603050405020304" pitchFamily="18" charset="0"/>
              </a:rPr>
              <a:t>.</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85750" indent="-285750" algn="just">
              <a:buClr>
                <a:schemeClr val="accent1"/>
              </a:buClr>
              <a:buFont typeface="Wingdings" panose="05000000000000000000" pitchFamily="2" charset="2"/>
              <a:buChar char="Ø"/>
            </a:pPr>
            <a:endPar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buClr>
                <a:schemeClr val="accent1"/>
              </a:buCl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3FB8FCB-44CE-8FA3-B57C-23427BC990C7}"/>
              </a:ext>
            </a:extLst>
          </p:cNvPr>
          <p:cNvPicPr/>
          <p:nvPr/>
        </p:nvPicPr>
        <p:blipFill>
          <a:blip r:embed="rId2"/>
          <a:stretch>
            <a:fillRect/>
          </a:stretch>
        </p:blipFill>
        <p:spPr>
          <a:xfrm>
            <a:off x="11083608" y="-12700"/>
            <a:ext cx="1108392" cy="1051878"/>
          </a:xfrm>
          <a:prstGeom prst="rect">
            <a:avLst/>
          </a:prstGeom>
        </p:spPr>
      </p:pic>
    </p:spTree>
    <p:extLst>
      <p:ext uri="{BB962C8B-B14F-4D97-AF65-F5344CB8AC3E}">
        <p14:creationId xmlns:p14="http://schemas.microsoft.com/office/powerpoint/2010/main" val="1111615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17B230-B7F4-4C9F-37AD-4C5C3E22FB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4675" y="1319212"/>
            <a:ext cx="5962650" cy="4219575"/>
          </a:xfrm>
          <a:prstGeom prst="rect">
            <a:avLst/>
          </a:prstGeom>
        </p:spPr>
      </p:pic>
    </p:spTree>
    <p:extLst>
      <p:ext uri="{BB962C8B-B14F-4D97-AF65-F5344CB8AC3E}">
        <p14:creationId xmlns:p14="http://schemas.microsoft.com/office/powerpoint/2010/main" val="269144942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452</TotalTime>
  <Words>1518</Words>
  <Application>Microsoft Office PowerPoint</Application>
  <PresentationFormat>Widescreen</PresentationFormat>
  <Paragraphs>179</Paragraphs>
  <Slides>19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Algerian</vt:lpstr>
      <vt:lpstr>Arial</vt:lpstr>
      <vt:lpstr>Arial Black</vt:lpstr>
      <vt:lpstr>CIDFont+F1</vt:lpstr>
      <vt:lpstr>CIDFont+F2</vt:lpstr>
      <vt:lpstr>CIDFont+F3</vt:lpstr>
      <vt:lpstr>Times New Roman</vt:lpstr>
      <vt:lpstr>Trebuchet MS</vt:lpstr>
      <vt:lpstr>Wingdings</vt:lpstr>
      <vt:lpstr>Wingdings 3</vt:lpstr>
      <vt:lpstr>Facet</vt:lpstr>
      <vt:lpstr>Medical - X-Ray -Bone FRactuRe detection (Binary Classification Problem)</vt:lpstr>
      <vt:lpstr>ABSTRACT</vt:lpstr>
      <vt:lpstr>PowerPoint Presentation</vt:lpstr>
      <vt:lpstr>PowerPoint Presentation</vt:lpstr>
      <vt:lpstr>PROPOSED SYSTEM</vt:lpstr>
      <vt:lpstr>PowerPoint Presentation</vt:lpstr>
      <vt:lpstr>REQUIREMENTS:</vt:lpstr>
      <vt:lpstr>ARCHITECTURE</vt:lpstr>
      <vt:lpstr>MODULES </vt:lpstr>
      <vt:lpstr>PowerPoint Presentation</vt:lpstr>
      <vt:lpstr>PowerPoint Presentation</vt:lpstr>
      <vt:lpstr>UML DIAGRAMS</vt:lpstr>
      <vt:lpstr>PowerPoint Presentation</vt:lpstr>
      <vt:lpstr>PowerPoint Presentation</vt:lpstr>
      <vt:lpstr>TESTING </vt:lpstr>
      <vt:lpstr>CONCLUSION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 X-Ray - Bone FRactuRe detection (Binary Classification Problem)</dc:title>
  <dc:creator>S SUDHEER</dc:creator>
  <cp:lastModifiedBy>918247273805</cp:lastModifiedBy>
  <cp:revision>15</cp:revision>
  <dcterms:created xsi:type="dcterms:W3CDTF">2024-02-15T08:02:52Z</dcterms:created>
  <dcterms:modified xsi:type="dcterms:W3CDTF">2024-04-28T01:39:55Z</dcterms:modified>
</cp:coreProperties>
</file>